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7772400" cy="10058400"/>
  <p:notesSz cx="10058400" cy="7772400"/>
  <p:embeddedFontLst>
    <p:embeddedFont>
      <p:font typeface="Jost Medium"/>
      <p:regular r:id="rId201314"/>
    </p:embeddedFont>
    <p:embeddedFont>
      <p:font typeface="Jost Bold"/>
      <p:regular r:id="rId201315"/>
    </p:embeddedFont>
    <p:embeddedFont>
      <p:font typeface="Kumbh Sans"/>
      <p:regular r:id="rId201316"/>
    </p:embeddedFont>
    <p:embeddedFont>
      <p:font typeface="Kumbh Sans Bold"/>
      <p:regular r:id="rId2013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B5392B"/>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6657580" y="97593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7F4EC"/>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6657580" y="97593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58768" y="662429"/>
            <a:ext cx="7043421" cy="165068"/>
          </a:xfrm>
          <a:prstGeom prst="rect">
            <a:avLst/>
          </a:prstGeom>
          <a:noFill/>
          <a:ln/>
        </p:spPr>
        <p:txBody>
          <a:bodyPr wrap="none" lIns="0" tIns="0" rIns="0" bIns="0" rtlCol="0" anchor="t"/>
          <a:lstStyle/>
          <a:p>
            <a:pPr algn="l" indent="0" marL="0">
              <a:lnSpc>
                <a:spcPct val="108000"/>
              </a:lnSpc>
              <a:buNone/>
            </a:pPr>
            <a:r>
              <a:rPr lang="en-US" sz="1000" spc="140" kern="100" dirty="0">
                <a:solidFill>
                  <a:srgbClr val="FFFFFF"/>
                </a:solidFill>
                <a:latin typeface="Jost Medium" pitchFamily="34" charset="0"/>
                <a:ea typeface="Jost Medium" pitchFamily="34" charset="-122"/>
                <a:cs typeface="Jost Medium" pitchFamily="34" charset="-120"/>
              </a:rPr>
              <a:t>PREDICTIVE MAINTENANCE ANALYTICS</a:t>
            </a:r>
            <a:endParaRPr lang="en-US" sz="1000" dirty="0"/>
          </a:p>
        </p:txBody>
      </p:sp>
      <p:sp>
        <p:nvSpPr>
          <p:cNvPr id="3" name="Text 1"/>
          <p:cNvSpPr/>
          <p:nvPr/>
        </p:nvSpPr>
        <p:spPr>
          <a:xfrm>
            <a:off x="558768" y="1009981"/>
            <a:ext cx="6654801" cy="3200044"/>
          </a:xfrm>
          <a:prstGeom prst="rect">
            <a:avLst/>
          </a:prstGeom>
          <a:noFill/>
          <a:ln/>
        </p:spPr>
        <p:txBody>
          <a:bodyPr wrap="square" lIns="0" tIns="0" rIns="0" bIns="0" rtlCol="0" anchor="t">
            <a:normAutofit/>
          </a:bodyPr>
          <a:lstStyle/>
          <a:p>
            <a:pPr algn="l" indent="0" marL="0">
              <a:lnSpc>
                <a:spcPct val="83000"/>
              </a:lnSpc>
              <a:buNone/>
            </a:pPr>
            <a:r>
              <a:rPr lang="en-US" sz="8400" b="1" spc="-84" kern="100" dirty="0">
                <a:solidFill>
                  <a:srgbClr val="FFFFFF"/>
                </a:solidFill>
                <a:latin typeface="Jost Bold" pitchFamily="34" charset="0"/>
                <a:ea typeface="Jost Bold" pitchFamily="34" charset="-122"/>
                <a:cs typeface="Jost Bold" pitchFamily="34" charset="-120"/>
              </a:rPr>
              <a:t>Predictive Maintenance</a:t>
            </a:r>
            <a:endParaRPr lang="en-US" sz="8400" dirty="0"/>
          </a:p>
          <a:p>
            <a:pPr algn="l" indent="0" marL="0">
              <a:lnSpc>
                <a:spcPct val="83000"/>
              </a:lnSpc>
              <a:buNone/>
            </a:pPr>
            <a:r>
              <a:rPr lang="en-US" sz="8400" b="1" spc="-84" kern="100" dirty="0">
                <a:solidFill>
                  <a:srgbClr val="FFFFFF"/>
                </a:solidFill>
                <a:latin typeface="Jost Bold" pitchFamily="34" charset="0"/>
                <a:ea typeface="Jost Bold" pitchFamily="34" charset="-122"/>
                <a:cs typeface="Jost Bold" pitchFamily="34" charset="-120"/>
              </a:rPr>
              <a:t>Analytics</a:t>
            </a:r>
            <a:endParaRPr lang="en-US" sz="8400" dirty="0"/>
          </a:p>
        </p:txBody>
      </p:sp>
      <p:sp>
        <p:nvSpPr>
          <p:cNvPr id="4" name="Shape 2"/>
          <p:cNvSpPr/>
          <p:nvPr/>
        </p:nvSpPr>
        <p:spPr>
          <a:xfrm>
            <a:off x="558768" y="4423603"/>
            <a:ext cx="2196045" cy="20112"/>
          </a:xfrm>
          <a:prstGeom prst="roundRect">
            <a:avLst>
              <a:gd name="adj" fmla="val 50005"/>
            </a:avLst>
          </a:prstGeom>
          <a:solidFill>
            <a:srgbClr val="C9C2B3"/>
          </a:solidFill>
          <a:ln/>
        </p:spPr>
      </p:sp>
      <p:sp>
        <p:nvSpPr>
          <p:cNvPr id="5" name="Text 3"/>
          <p:cNvSpPr/>
          <p:nvPr/>
        </p:nvSpPr>
        <p:spPr>
          <a:xfrm>
            <a:off x="558768" y="4660674"/>
            <a:ext cx="7043421" cy="266892"/>
          </a:xfrm>
          <a:prstGeom prst="rect">
            <a:avLst/>
          </a:prstGeom>
          <a:noFill/>
          <a:ln/>
        </p:spPr>
        <p:txBody>
          <a:bodyPr wrap="none" lIns="0" tIns="0" rIns="0" bIns="0" rtlCol="0" anchor="t"/>
          <a:lstStyle/>
          <a:p>
            <a:pPr algn="l" indent="0" marL="0">
              <a:lnSpc>
                <a:spcPct val="121000"/>
              </a:lnSpc>
              <a:buNone/>
            </a:pPr>
            <a:r>
              <a:rPr lang="en-US" sz="1450" dirty="0">
                <a:solidFill>
                  <a:srgbClr val="FFFFFF"/>
                </a:solidFill>
                <a:latin typeface="Kumbh Sans" pitchFamily="34" charset="0"/>
                <a:ea typeface="Kumbh Sans" pitchFamily="34" charset="-122"/>
                <a:cs typeface="Kumbh Sans" pitchFamily="34" charset="-120"/>
              </a:rPr>
              <a:t>Python | SQL Server | Power BI</a:t>
            </a:r>
            <a:endParaRPr lang="en-US" sz="1450" dirty="0"/>
          </a:p>
        </p:txBody>
      </p:sp>
      <p:sp>
        <p:nvSpPr>
          <p:cNvPr id="6" name="Text 4"/>
          <p:cNvSpPr/>
          <p:nvPr/>
        </p:nvSpPr>
        <p:spPr>
          <a:xfrm>
            <a:off x="558768" y="8888004"/>
            <a:ext cx="3327369" cy="165068"/>
          </a:xfrm>
          <a:prstGeom prst="rect">
            <a:avLst/>
          </a:prstGeom>
          <a:noFill/>
          <a:ln/>
        </p:spPr>
        <p:txBody>
          <a:bodyPr wrap="none" lIns="0" tIns="0" rIns="0" bIns="0" rtlCol="0" anchor="t"/>
          <a:lstStyle/>
          <a:p>
            <a:pPr algn="l" indent="0" marL="0">
              <a:lnSpc>
                <a:spcPct val="108000"/>
              </a:lnSpc>
              <a:buNone/>
            </a:pPr>
            <a:r>
              <a:rPr lang="en-US" sz="1000" spc="140" kern="100" dirty="0">
                <a:solidFill>
                  <a:srgbClr val="FFFFFF"/>
                </a:solidFill>
                <a:latin typeface="Jost Medium" pitchFamily="34" charset="0"/>
                <a:ea typeface="Jost Medium" pitchFamily="34" charset="-122"/>
                <a:cs typeface="Jost Medium" pitchFamily="34" charset="-120"/>
              </a:rPr>
              <a:t>PREPARED BY</a:t>
            </a:r>
            <a:endParaRPr lang="en-US" sz="1000" dirty="0"/>
          </a:p>
        </p:txBody>
      </p:sp>
      <p:sp>
        <p:nvSpPr>
          <p:cNvPr id="7" name="Text 5"/>
          <p:cNvSpPr/>
          <p:nvPr/>
        </p:nvSpPr>
        <p:spPr>
          <a:xfrm>
            <a:off x="558768" y="9165768"/>
            <a:ext cx="3327369" cy="230147"/>
          </a:xfrm>
          <a:prstGeom prst="rect">
            <a:avLst/>
          </a:prstGeom>
          <a:noFill/>
          <a:ln/>
        </p:spPr>
        <p:txBody>
          <a:bodyPr wrap="none" lIns="0" tIns="0" rIns="0" bIns="0" rtlCol="0" anchor="t"/>
          <a:lstStyle/>
          <a:p>
            <a:pPr algn="l" indent="0" marL="0">
              <a:lnSpc>
                <a:spcPct val="121000"/>
              </a:lnSpc>
              <a:buNone/>
            </a:pPr>
            <a:r>
              <a:rPr lang="en-US" sz="1250" dirty="0">
                <a:solidFill>
                  <a:srgbClr val="FFFFFF"/>
                </a:solidFill>
                <a:latin typeface="Kumbh Sans" pitchFamily="34" charset="0"/>
                <a:ea typeface="Kumbh Sans" pitchFamily="34" charset="-122"/>
                <a:cs typeface="Kumbh Sans" pitchFamily="34" charset="-120"/>
              </a:rPr>
              <a:t>Rahul Santosh Mangale</a:t>
            </a:r>
            <a:endParaRPr lang="en-US" sz="1250" dirty="0"/>
          </a:p>
        </p:txBody>
      </p:sp>
      <p:sp>
        <p:nvSpPr>
          <p:cNvPr id="8" name="Text 6"/>
          <p:cNvSpPr/>
          <p:nvPr/>
        </p:nvSpPr>
        <p:spPr>
          <a:xfrm>
            <a:off x="4114729" y="8888004"/>
            <a:ext cx="3098840" cy="165068"/>
          </a:xfrm>
          <a:prstGeom prst="rect">
            <a:avLst/>
          </a:prstGeom>
          <a:noFill/>
          <a:ln/>
        </p:spPr>
        <p:txBody>
          <a:bodyPr wrap="none" lIns="0" tIns="0" rIns="0" bIns="0" rtlCol="0" anchor="t"/>
          <a:lstStyle/>
          <a:p>
            <a:pPr algn="l" indent="0" marL="0">
              <a:lnSpc>
                <a:spcPct val="108000"/>
              </a:lnSpc>
              <a:buNone/>
            </a:pPr>
            <a:r>
              <a:rPr lang="en-US" sz="1000" spc="140" kern="100" dirty="0">
                <a:solidFill>
                  <a:srgbClr val="FFFFFF"/>
                </a:solidFill>
                <a:latin typeface="Jost Medium" pitchFamily="34" charset="0"/>
                <a:ea typeface="Jost Medium" pitchFamily="34" charset="-122"/>
                <a:cs typeface="Jost Medium" pitchFamily="34" charset="-120"/>
              </a:rPr>
              <a:t>DATASET</a:t>
            </a:r>
            <a:endParaRPr lang="en-US" sz="1000" dirty="0"/>
          </a:p>
        </p:txBody>
      </p:sp>
      <p:sp>
        <p:nvSpPr>
          <p:cNvPr id="9" name="Text 7"/>
          <p:cNvSpPr/>
          <p:nvPr/>
        </p:nvSpPr>
        <p:spPr>
          <a:xfrm>
            <a:off x="4114729" y="9165768"/>
            <a:ext cx="3098840" cy="460293"/>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FFFFFF"/>
                </a:solidFill>
                <a:latin typeface="Kumbh Sans" pitchFamily="34" charset="0"/>
                <a:ea typeface="Kumbh Sans" pitchFamily="34" charset="-122"/>
                <a:cs typeface="Kumbh Sans" pitchFamily="34" charset="-120"/>
              </a:rPr>
              <a:t>AI4I 2020 Predictive Maintenance (10,000 records)</a:t>
            </a:r>
            <a:endParaRPr lang="en-US" sz="1250" dirty="0"/>
          </a:p>
        </p:txBody>
      </p:sp>
      <p:sp>
        <p:nvSpPr>
          <p:cNvPr id="10" name="Shape 8"/>
          <p:cNvSpPr/>
          <p:nvPr/>
        </p:nvSpPr>
        <p:spPr>
          <a:xfrm>
            <a:off x="3884113" y="8886417"/>
            <a:ext cx="4048" cy="739644"/>
          </a:xfrm>
          <a:prstGeom prst="rect">
            <a:avLst/>
          </a:prstGeom>
          <a:solidFill>
            <a:srgbClr val="C9C2B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63443" y="197070"/>
            <a:ext cx="2936156"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3" name="Text 1"/>
          <p:cNvSpPr/>
          <p:nvPr/>
        </p:nvSpPr>
        <p:spPr>
          <a:xfrm>
            <a:off x="5061358" y="197070"/>
            <a:ext cx="2711042"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4" name="Shape 2"/>
          <p:cNvSpPr/>
          <p:nvPr/>
        </p:nvSpPr>
        <p:spPr>
          <a:xfrm>
            <a:off x="0" y="549784"/>
            <a:ext cx="7772337" cy="9487"/>
          </a:xfrm>
          <a:prstGeom prst="rect">
            <a:avLst/>
          </a:prstGeom>
          <a:solidFill>
            <a:srgbClr val="2A2926">
              <a:alpha val="20000"/>
            </a:srgbClr>
          </a:solidFill>
          <a:ln/>
        </p:spPr>
      </p:sp>
      <p:sp>
        <p:nvSpPr>
          <p:cNvPr id="5" name="Text 3"/>
          <p:cNvSpPr/>
          <p:nvPr/>
        </p:nvSpPr>
        <p:spPr>
          <a:xfrm>
            <a:off x="558768" y="1157020"/>
            <a:ext cx="6654801" cy="586656"/>
          </a:xfrm>
          <a:prstGeom prst="rect">
            <a:avLst/>
          </a:prstGeom>
          <a:noFill/>
          <a:ln/>
        </p:spPr>
        <p:txBody>
          <a:bodyPr wrap="none" lIns="0" tIns="0" rIns="0" bIns="0" rtlCol="0" anchor="t"/>
          <a:lstStyle/>
          <a:p>
            <a:pPr algn="l" indent="0" marL="0">
              <a:lnSpc>
                <a:spcPct val="92000"/>
              </a:lnSpc>
              <a:buNone/>
            </a:pPr>
            <a:r>
              <a:rPr lang="en-US" sz="4200" spc="-21" kern="100" dirty="0">
                <a:solidFill>
                  <a:srgbClr val="1E1D1B"/>
                </a:solidFill>
                <a:latin typeface="Jost Medium" pitchFamily="34" charset="0"/>
                <a:ea typeface="Jost Medium" pitchFamily="34" charset="-122"/>
                <a:cs typeface="Jost Medium" pitchFamily="34" charset="-120"/>
              </a:rPr>
              <a:t>1. Introduction</a:t>
            </a:r>
            <a:endParaRPr lang="en-US" sz="4200" dirty="0"/>
          </a:p>
        </p:txBody>
      </p:sp>
      <p:sp>
        <p:nvSpPr>
          <p:cNvPr id="6" name="Text 4"/>
          <p:cNvSpPr/>
          <p:nvPr/>
        </p:nvSpPr>
        <p:spPr>
          <a:xfrm>
            <a:off x="558768" y="1901445"/>
            <a:ext cx="3098776" cy="3336335"/>
          </a:xfrm>
          <a:prstGeom prst="rect">
            <a:avLst/>
          </a:prstGeom>
          <a:noFill/>
          <a:ln/>
        </p:spPr>
        <p:txBody>
          <a:bodyPr wrap="square" lIns="0" tIns="0" rIns="0" bIns="0" rtlCol="0" anchor="t">
            <a:normAutofit/>
          </a:bodyPr>
          <a:lstStyle/>
          <a:p>
            <a:pPr algn="l" indent="0" marL="0">
              <a:lnSpc>
                <a:spcPct val="121000"/>
              </a:lnSpc>
              <a:spcAft>
                <a:spcPts val="850"/>
              </a:spcAft>
              <a:buNone/>
            </a:pPr>
            <a:r>
              <a:rPr lang="en-US" sz="1250" dirty="0">
                <a:solidFill>
                  <a:srgbClr val="2A2926"/>
                </a:solidFill>
                <a:latin typeface="Kumbh Sans" pitchFamily="34" charset="0"/>
                <a:ea typeface="Kumbh Sans" pitchFamily="34" charset="-122"/>
                <a:cs typeface="Kumbh Sans" pitchFamily="34" charset="-120"/>
              </a:rPr>
              <a:t>Unplanned machine breakdowns cause production delays, repair costs and safety risks. Predictive maintenance uses operating data to find the conditions under which machines fail, so that maintenance can be planned before a breakdown happens.</a:t>
            </a:r>
            <a:endParaRPr lang="en-US" sz="1250" dirty="0"/>
          </a:p>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This project is an end-to-end data analytics solution on a machine failure dataset. It covers data cleaning and exploration in Python, business analysis in SQL Server, an interactive Power BI dashboard, and machine learning models that predict failures.</a:t>
            </a:r>
            <a:endParaRPr lang="en-US" sz="1250" dirty="0"/>
          </a:p>
        </p:txBody>
      </p:sp>
      <p:sp>
        <p:nvSpPr>
          <p:cNvPr id="7" name="Text 5"/>
          <p:cNvSpPr/>
          <p:nvPr/>
        </p:nvSpPr>
        <p:spPr>
          <a:xfrm>
            <a:off x="4114729" y="1930016"/>
            <a:ext cx="3098840" cy="1257174"/>
          </a:xfrm>
          <a:prstGeom prst="rect">
            <a:avLst/>
          </a:prstGeom>
          <a:noFill/>
          <a:ln/>
        </p:spPr>
        <p:txBody>
          <a:bodyPr wrap="square" lIns="0" tIns="0" rIns="0" bIns="0" rtlCol="0" anchor="t">
            <a:normAutofit/>
          </a:bodyPr>
          <a:lstStyle/>
          <a:p>
            <a:pPr algn="l" indent="0" marL="0">
              <a:lnSpc>
                <a:spcPct val="92000"/>
              </a:lnSpc>
              <a:buNone/>
            </a:pPr>
            <a:r>
              <a:rPr lang="en-US" sz="3000" spc="-15" kern="100" dirty="0">
                <a:solidFill>
                  <a:srgbClr val="1E1D1B"/>
                </a:solidFill>
                <a:latin typeface="Jost Medium" pitchFamily="34" charset="0"/>
                <a:ea typeface="Jost Medium" pitchFamily="34" charset="-122"/>
                <a:cs typeface="Jost Medium" pitchFamily="34" charset="-120"/>
              </a:rPr>
              <a:t>2. Problem Statement and Objectives</a:t>
            </a:r>
            <a:endParaRPr lang="en-US" sz="3000" dirty="0"/>
          </a:p>
        </p:txBody>
      </p:sp>
      <p:sp>
        <p:nvSpPr>
          <p:cNvPr id="8" name="Text 6"/>
          <p:cNvSpPr/>
          <p:nvPr/>
        </p:nvSpPr>
        <p:spPr>
          <a:xfrm>
            <a:off x="4114729" y="3355435"/>
            <a:ext cx="3098840" cy="690440"/>
          </a:xfrm>
          <a:prstGeom prst="rect">
            <a:avLst/>
          </a:prstGeom>
          <a:noFill/>
          <a:ln/>
        </p:spPr>
        <p:txBody>
          <a:bodyPr wrap="square" lIns="0" tIns="0" rIns="0" bIns="0" rtlCol="0" anchor="t">
            <a:normAutofit/>
          </a:bodyPr>
          <a:lstStyle/>
          <a:p>
            <a:pPr algn="l" indent="0" marL="0">
              <a:lnSpc>
                <a:spcPct val="121000"/>
              </a:lnSpc>
              <a:buNone/>
            </a:pPr>
            <a:r>
              <a:rPr lang="en-US" sz="1250" b="1" dirty="0">
                <a:solidFill>
                  <a:srgbClr val="2A2926"/>
                </a:solidFill>
                <a:latin typeface="Kumbh Sans Bold" pitchFamily="34" charset="0"/>
                <a:ea typeface="Kumbh Sans Bold" pitchFamily="34" charset="-122"/>
                <a:cs typeface="Kumbh Sans Bold" pitchFamily="34" charset="-120"/>
              </a:rPr>
              <a:t>Problem:</a:t>
            </a:r>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 Machine failures are rare but costly, and it is not clear which operating conditions lead to them.</a:t>
            </a:r>
            <a:endParaRPr lang="en-US" sz="1250" dirty="0"/>
          </a:p>
        </p:txBody>
      </p:sp>
      <p:sp>
        <p:nvSpPr>
          <p:cNvPr id="9" name="Text 7"/>
          <p:cNvSpPr/>
          <p:nvPr/>
        </p:nvSpPr>
        <p:spPr>
          <a:xfrm>
            <a:off x="4114729" y="4160158"/>
            <a:ext cx="3098840" cy="3475979"/>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Understand the dataset and check its quality.</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Measure the overall failure rate and compare it across machine types.</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Identify which failure modes are most common.</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Study how tool wear, rotational speed, torque, temperature and power affect failures.</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Build an interactive dashboard that gives a quick view of machine health.</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Build and compare machine learning models that predict whether a machine will fail.</a:t>
            </a:r>
            <a:endParaRPr lang="en-US" sz="1250" dirty="0"/>
          </a:p>
        </p:txBody>
      </p:sp>
      <p:sp>
        <p:nvSpPr>
          <p:cNvPr id="10" name="Shape 8"/>
          <p:cNvSpPr/>
          <p:nvPr/>
        </p:nvSpPr>
        <p:spPr>
          <a:xfrm>
            <a:off x="0" y="9499066"/>
            <a:ext cx="7772337" cy="9487"/>
          </a:xfrm>
          <a:prstGeom prst="rect">
            <a:avLst/>
          </a:prstGeom>
          <a:solidFill>
            <a:srgbClr val="2A2926">
              <a:alpha val="20000"/>
            </a:srgbClr>
          </a:solidFill>
          <a:ln/>
        </p:spPr>
      </p:sp>
      <p:sp>
        <p:nvSpPr>
          <p:cNvPr id="11" name="Text 9"/>
          <p:cNvSpPr/>
          <p:nvPr/>
        </p:nvSpPr>
        <p:spPr>
          <a:xfrm>
            <a:off x="7526160" y="9695566"/>
            <a:ext cx="246240"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2</a:t>
            </a:r>
            <a:endParaRPr lang="en-US" sz="900" dirty="0"/>
          </a:p>
        </p:txBody>
      </p:sp>
      <p:sp>
        <p:nvSpPr>
          <p:cNvPr id="12" name="Shape 10"/>
          <p:cNvSpPr/>
          <p:nvPr/>
        </p:nvSpPr>
        <p:spPr>
          <a:xfrm>
            <a:off x="3884113" y="1901445"/>
            <a:ext cx="4048" cy="5734692"/>
          </a:xfrm>
          <a:prstGeom prst="rect">
            <a:avLst/>
          </a:prstGeom>
          <a:solidFill>
            <a:srgbClr val="C9C2B3"/>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63443" y="197070"/>
            <a:ext cx="2936156"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3" name="Text 1"/>
          <p:cNvSpPr/>
          <p:nvPr/>
        </p:nvSpPr>
        <p:spPr>
          <a:xfrm>
            <a:off x="5061358" y="197070"/>
            <a:ext cx="2711042"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4" name="Shape 2"/>
          <p:cNvSpPr/>
          <p:nvPr/>
        </p:nvSpPr>
        <p:spPr>
          <a:xfrm>
            <a:off x="0" y="549784"/>
            <a:ext cx="7772337" cy="9487"/>
          </a:xfrm>
          <a:prstGeom prst="rect">
            <a:avLst/>
          </a:prstGeom>
          <a:solidFill>
            <a:srgbClr val="2A2926">
              <a:alpha val="20000"/>
            </a:srgbClr>
          </a:solidFill>
          <a:ln/>
        </p:spPr>
      </p:sp>
      <p:sp>
        <p:nvSpPr>
          <p:cNvPr id="5" name="Text 3"/>
          <p:cNvSpPr/>
          <p:nvPr/>
        </p:nvSpPr>
        <p:spPr>
          <a:xfrm>
            <a:off x="558768" y="2863103"/>
            <a:ext cx="6654801" cy="586656"/>
          </a:xfrm>
          <a:prstGeom prst="rect">
            <a:avLst/>
          </a:prstGeom>
          <a:noFill/>
          <a:ln/>
        </p:spPr>
        <p:txBody>
          <a:bodyPr wrap="none" lIns="0" tIns="0" rIns="0" bIns="0" rtlCol="0" anchor="t"/>
          <a:lstStyle/>
          <a:p>
            <a:pPr algn="l" indent="0" marL="0">
              <a:lnSpc>
                <a:spcPct val="92000"/>
              </a:lnSpc>
              <a:buNone/>
            </a:pPr>
            <a:r>
              <a:rPr lang="en-US" sz="4200" spc="-21" kern="100" dirty="0">
                <a:solidFill>
                  <a:srgbClr val="1E1D1B"/>
                </a:solidFill>
                <a:latin typeface="Jost Medium" pitchFamily="34" charset="0"/>
                <a:ea typeface="Jost Medium" pitchFamily="34" charset="-122"/>
                <a:cs typeface="Jost Medium" pitchFamily="34" charset="-120"/>
              </a:rPr>
              <a:t>3. Dataset Description</a:t>
            </a:r>
            <a:endParaRPr lang="en-US" sz="4200" dirty="0"/>
          </a:p>
        </p:txBody>
      </p:sp>
      <p:sp>
        <p:nvSpPr>
          <p:cNvPr id="6" name="Text 4"/>
          <p:cNvSpPr/>
          <p:nvPr/>
        </p:nvSpPr>
        <p:spPr>
          <a:xfrm>
            <a:off x="558768" y="3607528"/>
            <a:ext cx="6654801" cy="460293"/>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The dataset is the AI4I 2020 Predictive Maintenance dataset (ai4i2020.csv). It has 10,000 records and 14 columns, with no missing values and no duplicate rows.</a:t>
            </a:r>
            <a:endParaRPr lang="en-US" sz="1250" dirty="0"/>
          </a:p>
        </p:txBody>
      </p:sp>
      <p:sp>
        <p:nvSpPr>
          <p:cNvPr id="7" name="Text 5"/>
          <p:cNvSpPr/>
          <p:nvPr/>
        </p:nvSpPr>
        <p:spPr>
          <a:xfrm>
            <a:off x="558768" y="4245538"/>
            <a:ext cx="6654801" cy="2988681"/>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UDI:</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Unique record number (1 to 10,000)</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Product ID:</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Product identifier</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Type:</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Product quality type: L (Low), M (Medium), H (High)</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Air temperature [K]:</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Surrounding air temperature in Kelvin</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Process temperature [K]:</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Process temperature in Kelvin</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Rotational speed [rpm]:</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Rotational speed of the machine</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Torque [Nm]:</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Torque applied, in Newton-metres</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Tool wear [min]:</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Minutes of tool use</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Machine failure:</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Target: 1 = failure, 0 = no failure</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TWF, HDF, PWF, OSF, RNF:</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Failure modes: tool wear, heat dissipation, power, overstrain and random failure</a:t>
            </a:r>
            <a:endParaRPr lang="en-US" sz="1250" dirty="0"/>
          </a:p>
        </p:txBody>
      </p:sp>
      <p:sp>
        <p:nvSpPr>
          <p:cNvPr id="8" name="Shape 6"/>
          <p:cNvSpPr/>
          <p:nvPr/>
        </p:nvSpPr>
        <p:spPr>
          <a:xfrm>
            <a:off x="0" y="9499066"/>
            <a:ext cx="7772337" cy="9487"/>
          </a:xfrm>
          <a:prstGeom prst="rect">
            <a:avLst/>
          </a:prstGeom>
          <a:solidFill>
            <a:srgbClr val="2A2926">
              <a:alpha val="20000"/>
            </a:srgbClr>
          </a:solidFill>
          <a:ln/>
        </p:spPr>
      </p:sp>
      <p:sp>
        <p:nvSpPr>
          <p:cNvPr id="9" name="Text 7"/>
          <p:cNvSpPr/>
          <p:nvPr/>
        </p:nvSpPr>
        <p:spPr>
          <a:xfrm>
            <a:off x="7529323" y="9695566"/>
            <a:ext cx="243077"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63443" y="197070"/>
            <a:ext cx="2936156"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3" name="Text 1"/>
          <p:cNvSpPr/>
          <p:nvPr/>
        </p:nvSpPr>
        <p:spPr>
          <a:xfrm>
            <a:off x="5061358" y="197070"/>
            <a:ext cx="2711042"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4" name="Shape 2"/>
          <p:cNvSpPr/>
          <p:nvPr/>
        </p:nvSpPr>
        <p:spPr>
          <a:xfrm>
            <a:off x="0" y="549784"/>
            <a:ext cx="7772337" cy="9487"/>
          </a:xfrm>
          <a:prstGeom prst="rect">
            <a:avLst/>
          </a:prstGeom>
          <a:solidFill>
            <a:srgbClr val="2A2926">
              <a:alpha val="20000"/>
            </a:srgbClr>
          </a:solidFill>
          <a:ln/>
        </p:spPr>
      </p:sp>
      <p:sp>
        <p:nvSpPr>
          <p:cNvPr id="5" name="Text 3"/>
          <p:cNvSpPr/>
          <p:nvPr/>
        </p:nvSpPr>
        <p:spPr>
          <a:xfrm>
            <a:off x="558768" y="1157020"/>
            <a:ext cx="6654801" cy="586656"/>
          </a:xfrm>
          <a:prstGeom prst="rect">
            <a:avLst/>
          </a:prstGeom>
          <a:noFill/>
          <a:ln/>
        </p:spPr>
        <p:txBody>
          <a:bodyPr wrap="none" lIns="0" tIns="0" rIns="0" bIns="0" rtlCol="0" anchor="t"/>
          <a:lstStyle/>
          <a:p>
            <a:pPr algn="l" indent="0" marL="0">
              <a:lnSpc>
                <a:spcPct val="92000"/>
              </a:lnSpc>
              <a:buNone/>
            </a:pPr>
            <a:r>
              <a:rPr lang="en-US" sz="4200" spc="-21" kern="100" dirty="0">
                <a:solidFill>
                  <a:srgbClr val="1E1D1B"/>
                </a:solidFill>
                <a:latin typeface="Jost Medium" pitchFamily="34" charset="0"/>
                <a:ea typeface="Jost Medium" pitchFamily="34" charset="-122"/>
                <a:cs typeface="Jost Medium" pitchFamily="34" charset="-120"/>
              </a:rPr>
              <a:t>4. Tools and Technologies</a:t>
            </a:r>
            <a:endParaRPr lang="en-US" sz="4200" dirty="0"/>
          </a:p>
        </p:txBody>
      </p:sp>
      <p:sp>
        <p:nvSpPr>
          <p:cNvPr id="6" name="Text 4"/>
          <p:cNvSpPr/>
          <p:nvPr/>
        </p:nvSpPr>
        <p:spPr>
          <a:xfrm>
            <a:off x="558768" y="1901445"/>
            <a:ext cx="3098776" cy="2403037"/>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Python (pandas, NumPy, Matplotlib, Seaborn, scikit-learn) in Jupyter Notebook:</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Data cleaning, exploration, feature engineering and machine learning</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SQL Server (T-SQL):</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Database storage, views and business analysis queries</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Power BI:</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Interactive dashboard and KPI reporting</a:t>
            </a:r>
            <a:endParaRPr lang="en-US" sz="1250" dirty="0"/>
          </a:p>
        </p:txBody>
      </p:sp>
      <p:sp>
        <p:nvSpPr>
          <p:cNvPr id="7" name="Text 5"/>
          <p:cNvSpPr/>
          <p:nvPr/>
        </p:nvSpPr>
        <p:spPr>
          <a:xfrm>
            <a:off x="4114729" y="1930016"/>
            <a:ext cx="3098840" cy="838116"/>
          </a:xfrm>
          <a:prstGeom prst="rect">
            <a:avLst/>
          </a:prstGeom>
          <a:noFill/>
          <a:ln/>
        </p:spPr>
        <p:txBody>
          <a:bodyPr wrap="square" lIns="0" tIns="0" rIns="0" bIns="0" rtlCol="0" anchor="t">
            <a:normAutofit/>
          </a:bodyPr>
          <a:lstStyle/>
          <a:p>
            <a:pPr algn="l" indent="0" marL="0">
              <a:lnSpc>
                <a:spcPct val="92000"/>
              </a:lnSpc>
              <a:buNone/>
            </a:pPr>
            <a:r>
              <a:rPr lang="en-US" sz="3000" spc="-15" kern="100" dirty="0">
                <a:solidFill>
                  <a:srgbClr val="1E1D1B"/>
                </a:solidFill>
                <a:latin typeface="Jost Medium" pitchFamily="34" charset="0"/>
                <a:ea typeface="Jost Medium" pitchFamily="34" charset="-122"/>
                <a:cs typeface="Jost Medium" pitchFamily="34" charset="-120"/>
              </a:rPr>
              <a:t>5. Project Workflow</a:t>
            </a:r>
            <a:endParaRPr lang="en-US" sz="3000" dirty="0"/>
          </a:p>
        </p:txBody>
      </p:sp>
      <p:sp>
        <p:nvSpPr>
          <p:cNvPr id="8" name="Text 6"/>
          <p:cNvSpPr/>
          <p:nvPr/>
        </p:nvSpPr>
        <p:spPr>
          <a:xfrm>
            <a:off x="4114729" y="2936377"/>
            <a:ext cx="3098840" cy="4318775"/>
          </a:xfrm>
          <a:prstGeom prst="rect">
            <a:avLst/>
          </a:prstGeom>
          <a:noFill/>
          <a:ln/>
        </p:spPr>
        <p:txBody>
          <a:bodyPr wrap="square" lIns="0" tIns="0" rIns="0" bIns="0" rtlCol="0" anchor="t">
            <a:normAutofit/>
          </a:bodyPr>
          <a:lstStyle/>
          <a:p>
            <a:pPr algn="l" marL="254000" indent="-254000">
              <a:lnSpc>
                <a:spcPct val="121000"/>
              </a:lnSpc>
              <a:buSzPct val="100000"/>
              <a:buFont typeface="+mj-lt"/>
              <a:buAutoNum type="arabicPeriod" startAt="1"/>
            </a:pPr>
            <a:r>
              <a:rPr lang="en-US" sz="1250" dirty="0">
                <a:solidFill>
                  <a:srgbClr val="2A2926"/>
                </a:solidFill>
                <a:latin typeface="Kumbh Sans" pitchFamily="34" charset="0"/>
                <a:ea typeface="Kumbh Sans" pitchFamily="34" charset="-122"/>
                <a:cs typeface="Kumbh Sans" pitchFamily="34" charset="-120"/>
              </a:rPr>
              <a:t>Load the data and understand its structure (Python).</a:t>
            </a:r>
            <a:endParaRPr lang="en-US" sz="1250" dirty="0"/>
          </a:p>
          <a:p>
            <a:pPr algn="l" marL="254000" indent="-254000">
              <a:lnSpc>
                <a:spcPct val="121000"/>
              </a:lnSpc>
              <a:buSzPct val="100000"/>
              <a:buFont typeface="+mj-lt"/>
              <a:buAutoNum type="arabicPeriod" startAt="2"/>
            </a:pPr>
            <a:r>
              <a:rPr lang="en-US" sz="1250" dirty="0">
                <a:solidFill>
                  <a:srgbClr val="2A2926"/>
                </a:solidFill>
                <a:latin typeface="Kumbh Sans" pitchFamily="34" charset="0"/>
                <a:ea typeface="Kumbh Sans" pitchFamily="34" charset="-122"/>
                <a:cs typeface="Kumbh Sans" pitchFamily="34" charset="-120"/>
              </a:rPr>
              <a:t>Run data quality checks (Python).</a:t>
            </a:r>
            <a:endParaRPr lang="en-US" sz="1250" dirty="0"/>
          </a:p>
          <a:p>
            <a:pPr algn="l" marL="254000" indent="-254000">
              <a:lnSpc>
                <a:spcPct val="121000"/>
              </a:lnSpc>
              <a:buSzPct val="100000"/>
              <a:buFont typeface="+mj-lt"/>
              <a:buAutoNum type="arabicPeriod" startAt="3"/>
            </a:pPr>
            <a:r>
              <a:rPr lang="en-US" sz="1250" dirty="0">
                <a:solidFill>
                  <a:srgbClr val="2A2926"/>
                </a:solidFill>
                <a:latin typeface="Kumbh Sans" pitchFamily="34" charset="0"/>
                <a:ea typeface="Kumbh Sans" pitchFamily="34" charset="-122"/>
                <a:cs typeface="Kumbh Sans" pitchFamily="34" charset="-120"/>
              </a:rPr>
              <a:t>Explore the data with statistics and charts (Python).</a:t>
            </a:r>
            <a:endParaRPr lang="en-US" sz="1250" dirty="0"/>
          </a:p>
          <a:p>
            <a:pPr algn="l" marL="254000" indent="-254000">
              <a:lnSpc>
                <a:spcPct val="121000"/>
              </a:lnSpc>
              <a:buSzPct val="100000"/>
              <a:buFont typeface="+mj-lt"/>
              <a:buAutoNum type="arabicPeriod" startAt="4"/>
            </a:pPr>
            <a:r>
              <a:rPr lang="en-US" sz="1250" dirty="0">
                <a:solidFill>
                  <a:srgbClr val="2A2926"/>
                </a:solidFill>
                <a:latin typeface="Kumbh Sans" pitchFamily="34" charset="0"/>
                <a:ea typeface="Kumbh Sans" pitchFamily="34" charset="-122"/>
                <a:cs typeface="Kumbh Sans" pitchFamily="34" charset="-120"/>
              </a:rPr>
              <a:t>Create new features (Python and SQL).</a:t>
            </a:r>
            <a:endParaRPr lang="en-US" sz="1250" dirty="0"/>
          </a:p>
          <a:p>
            <a:pPr algn="l" marL="254000" indent="-254000">
              <a:lnSpc>
                <a:spcPct val="121000"/>
              </a:lnSpc>
              <a:buSzPct val="100000"/>
              <a:buFont typeface="+mj-lt"/>
              <a:buAutoNum type="arabicPeriod" startAt="5"/>
            </a:pPr>
            <a:r>
              <a:rPr lang="en-US" sz="1250" dirty="0">
                <a:solidFill>
                  <a:srgbClr val="2A2926"/>
                </a:solidFill>
                <a:latin typeface="Kumbh Sans" pitchFamily="34" charset="0"/>
                <a:ea typeface="Kumbh Sans" pitchFamily="34" charset="-122"/>
                <a:cs typeface="Kumbh Sans" pitchFamily="34" charset="-120"/>
              </a:rPr>
              <a:t>Load the data into SQL Server and create analysis views.</a:t>
            </a:r>
            <a:endParaRPr lang="en-US" sz="1250" dirty="0"/>
          </a:p>
          <a:p>
            <a:pPr algn="l" marL="254000" indent="-254000">
              <a:lnSpc>
                <a:spcPct val="121000"/>
              </a:lnSpc>
              <a:buSzPct val="100000"/>
              <a:buFont typeface="+mj-lt"/>
              <a:buAutoNum type="arabicPeriod" startAt="6"/>
            </a:pPr>
            <a:r>
              <a:rPr lang="en-US" sz="1250" dirty="0">
                <a:solidFill>
                  <a:srgbClr val="2A2926"/>
                </a:solidFill>
                <a:latin typeface="Kumbh Sans" pitchFamily="34" charset="0"/>
                <a:ea typeface="Kumbh Sans" pitchFamily="34" charset="-122"/>
                <a:cs typeface="Kumbh Sans" pitchFamily="34" charset="-120"/>
              </a:rPr>
              <a:t>Answer business questions with SQL queries.</a:t>
            </a:r>
            <a:endParaRPr lang="en-US" sz="1250" dirty="0"/>
          </a:p>
          <a:p>
            <a:pPr algn="l" marL="254000" indent="-254000">
              <a:lnSpc>
                <a:spcPct val="121000"/>
              </a:lnSpc>
              <a:buSzPct val="100000"/>
              <a:buFont typeface="+mj-lt"/>
              <a:buAutoNum type="arabicPeriod" startAt="7"/>
            </a:pPr>
            <a:r>
              <a:rPr lang="en-US" sz="1250" dirty="0">
                <a:solidFill>
                  <a:srgbClr val="2A2926"/>
                </a:solidFill>
                <a:latin typeface="Kumbh Sans" pitchFamily="34" charset="0"/>
                <a:ea typeface="Kumbh Sans" pitchFamily="34" charset="-122"/>
                <a:cs typeface="Kumbh Sans" pitchFamily="34" charset="-120"/>
              </a:rPr>
              <a:t>Connect Power BI to the SQL view and build the dashboard.</a:t>
            </a:r>
            <a:endParaRPr lang="en-US" sz="1250" dirty="0"/>
          </a:p>
          <a:p>
            <a:pPr algn="l" marL="254000" indent="-254000">
              <a:lnSpc>
                <a:spcPct val="121000"/>
              </a:lnSpc>
              <a:buSzPct val="100000"/>
              <a:buFont typeface="+mj-lt"/>
              <a:buAutoNum type="arabicPeriod" startAt="8"/>
            </a:pPr>
            <a:r>
              <a:rPr lang="en-US" sz="1250" dirty="0">
                <a:solidFill>
                  <a:srgbClr val="2A2926"/>
                </a:solidFill>
                <a:latin typeface="Kumbh Sans" pitchFamily="34" charset="0"/>
                <a:ea typeface="Kumbh Sans" pitchFamily="34" charset="-122"/>
                <a:cs typeface="Kumbh Sans" pitchFamily="34" charset="-120"/>
              </a:rPr>
              <a:t>Train and compare machine learning models.</a:t>
            </a:r>
            <a:endParaRPr lang="en-US" sz="1250" dirty="0"/>
          </a:p>
          <a:p>
            <a:pPr algn="l" marL="254000" indent="-254000">
              <a:lnSpc>
                <a:spcPct val="121000"/>
              </a:lnSpc>
              <a:buSzPct val="100000"/>
              <a:buFont typeface="+mj-lt"/>
              <a:buAutoNum type="arabicPeriod" startAt="9"/>
            </a:pPr>
            <a:r>
              <a:rPr lang="en-US" sz="1250" dirty="0">
                <a:solidFill>
                  <a:srgbClr val="2A2926"/>
                </a:solidFill>
                <a:latin typeface="Kumbh Sans" pitchFamily="34" charset="0"/>
                <a:ea typeface="Kumbh Sans" pitchFamily="34" charset="-122"/>
                <a:cs typeface="Kumbh Sans" pitchFamily="34" charset="-120"/>
              </a:rPr>
              <a:t>Document findings and recommendations (this report).</a:t>
            </a:r>
            <a:endParaRPr lang="en-US" sz="1250" dirty="0"/>
          </a:p>
        </p:txBody>
      </p:sp>
      <p:sp>
        <p:nvSpPr>
          <p:cNvPr id="9" name="Shape 7"/>
          <p:cNvSpPr/>
          <p:nvPr/>
        </p:nvSpPr>
        <p:spPr>
          <a:xfrm>
            <a:off x="0" y="9499066"/>
            <a:ext cx="7772337" cy="9487"/>
          </a:xfrm>
          <a:prstGeom prst="rect">
            <a:avLst/>
          </a:prstGeom>
          <a:solidFill>
            <a:srgbClr val="2A2926">
              <a:alpha val="20000"/>
            </a:srgbClr>
          </a:solidFill>
          <a:ln/>
        </p:spPr>
      </p:sp>
      <p:sp>
        <p:nvSpPr>
          <p:cNvPr id="10" name="Text 8"/>
          <p:cNvSpPr/>
          <p:nvPr/>
        </p:nvSpPr>
        <p:spPr>
          <a:xfrm>
            <a:off x="7523314" y="9695566"/>
            <a:ext cx="249086"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4</a:t>
            </a:r>
            <a:endParaRPr lang="en-US" sz="900" dirty="0"/>
          </a:p>
        </p:txBody>
      </p:sp>
      <p:sp>
        <p:nvSpPr>
          <p:cNvPr id="11" name="Shape 9"/>
          <p:cNvSpPr/>
          <p:nvPr/>
        </p:nvSpPr>
        <p:spPr>
          <a:xfrm>
            <a:off x="3884113" y="1901445"/>
            <a:ext cx="4048" cy="5353707"/>
          </a:xfrm>
          <a:prstGeom prst="rect">
            <a:avLst/>
          </a:prstGeom>
          <a:solidFill>
            <a:srgbClr val="C9C2B3"/>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63443" y="197070"/>
            <a:ext cx="2936156"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3" name="Text 1"/>
          <p:cNvSpPr/>
          <p:nvPr/>
        </p:nvSpPr>
        <p:spPr>
          <a:xfrm>
            <a:off x="5061358" y="197070"/>
            <a:ext cx="2711042"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4" name="Shape 2"/>
          <p:cNvSpPr/>
          <p:nvPr/>
        </p:nvSpPr>
        <p:spPr>
          <a:xfrm>
            <a:off x="0" y="549784"/>
            <a:ext cx="7772337" cy="9487"/>
          </a:xfrm>
          <a:prstGeom prst="rect">
            <a:avLst/>
          </a:prstGeom>
          <a:solidFill>
            <a:srgbClr val="2A2926">
              <a:alpha val="20000"/>
            </a:srgbClr>
          </a:solidFill>
          <a:ln/>
        </p:spPr>
      </p:sp>
      <p:sp>
        <p:nvSpPr>
          <p:cNvPr id="5" name="Text 3"/>
          <p:cNvSpPr/>
          <p:nvPr/>
        </p:nvSpPr>
        <p:spPr>
          <a:xfrm>
            <a:off x="558768" y="2503874"/>
            <a:ext cx="6654801" cy="1173311"/>
          </a:xfrm>
          <a:prstGeom prst="rect">
            <a:avLst/>
          </a:prstGeom>
          <a:noFill/>
          <a:ln/>
        </p:spPr>
        <p:txBody>
          <a:bodyPr wrap="square" lIns="0" tIns="0" rIns="0" bIns="0" rtlCol="0" anchor="t">
            <a:normAutofit/>
          </a:bodyPr>
          <a:lstStyle/>
          <a:p>
            <a:pPr algn="l" indent="0" marL="0">
              <a:lnSpc>
                <a:spcPct val="92000"/>
              </a:lnSpc>
              <a:buNone/>
            </a:pPr>
            <a:r>
              <a:rPr lang="en-US" sz="4200" spc="-21" kern="100" dirty="0">
                <a:solidFill>
                  <a:srgbClr val="1E1D1B"/>
                </a:solidFill>
                <a:latin typeface="Jost Medium" pitchFamily="34" charset="0"/>
                <a:ea typeface="Jost Medium" pitchFamily="34" charset="-122"/>
                <a:cs typeface="Jost Medium" pitchFamily="34" charset="-120"/>
              </a:rPr>
              <a:t>6. Data Understanding and Cleaning (Python)</a:t>
            </a:r>
            <a:endParaRPr lang="en-US" sz="4200" dirty="0"/>
          </a:p>
        </p:txBody>
      </p:sp>
      <p:sp>
        <p:nvSpPr>
          <p:cNvPr id="6" name="Text 4"/>
          <p:cNvSpPr/>
          <p:nvPr/>
        </p:nvSpPr>
        <p:spPr>
          <a:xfrm>
            <a:off x="558768" y="3834955"/>
            <a:ext cx="6654801" cy="460293"/>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The dataset was loaded into a pandas DataFrame and checked with shape, info(), describe() and dtypes.</a:t>
            </a:r>
            <a:endParaRPr lang="en-US" sz="1250" dirty="0"/>
          </a:p>
        </p:txBody>
      </p:sp>
      <p:sp>
        <p:nvSpPr>
          <p:cNvPr id="7" name="Text 5"/>
          <p:cNvSpPr/>
          <p:nvPr/>
        </p:nvSpPr>
        <p:spPr>
          <a:xfrm>
            <a:off x="558768" y="4472965"/>
            <a:ext cx="3098776" cy="2044314"/>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Shape:</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10,000 rows and 14 columns.</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Missing values:</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none in any column.</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Duplicate rows:</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none.</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Data types:</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all correct (integers, floats and two text columns).</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Categorical values:</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Type has three values (L, M, H); Machine failure has two (0, 1).</a:t>
            </a:r>
            <a:endParaRPr lang="en-US" sz="1250" dirty="0"/>
          </a:p>
        </p:txBody>
      </p:sp>
      <p:sp>
        <p:nvSpPr>
          <p:cNvPr id="8" name="Text 6"/>
          <p:cNvSpPr/>
          <p:nvPr/>
        </p:nvSpPr>
        <p:spPr>
          <a:xfrm>
            <a:off x="558768" y="6631562"/>
            <a:ext cx="3098776" cy="460293"/>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Because the data was already clean, no rows needed to be removed or imputed.</a:t>
            </a:r>
            <a:endParaRPr lang="en-US" sz="1250" dirty="0"/>
          </a:p>
        </p:txBody>
      </p:sp>
      <p:sp>
        <p:nvSpPr>
          <p:cNvPr id="9" name="Text 7"/>
          <p:cNvSpPr/>
          <p:nvPr/>
        </p:nvSpPr>
        <p:spPr>
          <a:xfrm>
            <a:off x="4114729" y="4501537"/>
            <a:ext cx="3098840" cy="419058"/>
          </a:xfrm>
          <a:prstGeom prst="rect">
            <a:avLst/>
          </a:prstGeom>
          <a:noFill/>
          <a:ln/>
        </p:spPr>
        <p:txBody>
          <a:bodyPr wrap="none" lIns="0" tIns="0" rIns="0" bIns="0" rtlCol="0" anchor="t"/>
          <a:lstStyle/>
          <a:p>
            <a:pPr algn="l" indent="0" marL="0">
              <a:lnSpc>
                <a:spcPct val="92000"/>
              </a:lnSpc>
              <a:buNone/>
            </a:pPr>
            <a:r>
              <a:rPr lang="en-US" sz="3000" spc="-15" kern="100" dirty="0">
                <a:solidFill>
                  <a:srgbClr val="1E1D1B"/>
                </a:solidFill>
                <a:latin typeface="Jost Medium" pitchFamily="34" charset="0"/>
                <a:ea typeface="Jost Medium" pitchFamily="34" charset="-122"/>
                <a:cs typeface="Jost Medium" pitchFamily="34" charset="-120"/>
              </a:rPr>
              <a:t>Key statistics</a:t>
            </a:r>
            <a:endParaRPr lang="en-US" sz="3000" dirty="0"/>
          </a:p>
        </p:txBody>
      </p:sp>
      <p:sp>
        <p:nvSpPr>
          <p:cNvPr id="10" name="Text 8"/>
          <p:cNvSpPr/>
          <p:nvPr/>
        </p:nvSpPr>
        <p:spPr>
          <a:xfrm>
            <a:off x="4114729" y="5088840"/>
            <a:ext cx="3098840" cy="2504607"/>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Air temperature [K]: mean 300.00; min 295.3; max 304.5</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Process temperature [K]: mean 310.01; min 305.7; max 313.8</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Rotational speed [rpm]: mean 1,538.8; min 1,168; max 2,886</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Torque [Nm]: mean 39.99; min 3.8; max 76.6</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Tool wear [min]: mean 107.95; min 0; max 253</a:t>
            </a:r>
            <a:endParaRPr lang="en-US" sz="1250" dirty="0"/>
          </a:p>
        </p:txBody>
      </p:sp>
      <p:sp>
        <p:nvSpPr>
          <p:cNvPr id="11" name="Shape 9"/>
          <p:cNvSpPr/>
          <p:nvPr/>
        </p:nvSpPr>
        <p:spPr>
          <a:xfrm>
            <a:off x="0" y="9499066"/>
            <a:ext cx="7772337" cy="9487"/>
          </a:xfrm>
          <a:prstGeom prst="rect">
            <a:avLst/>
          </a:prstGeom>
          <a:solidFill>
            <a:srgbClr val="2A2926">
              <a:alpha val="20000"/>
            </a:srgbClr>
          </a:solidFill>
          <a:ln/>
        </p:spPr>
      </p:sp>
      <p:sp>
        <p:nvSpPr>
          <p:cNvPr id="12" name="Text 10"/>
          <p:cNvSpPr/>
          <p:nvPr/>
        </p:nvSpPr>
        <p:spPr>
          <a:xfrm>
            <a:off x="7526919" y="9695566"/>
            <a:ext cx="245481"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5</a:t>
            </a:r>
            <a:endParaRPr lang="en-US" sz="900" dirty="0"/>
          </a:p>
        </p:txBody>
      </p:sp>
      <p:sp>
        <p:nvSpPr>
          <p:cNvPr id="13" name="Shape 11"/>
          <p:cNvSpPr/>
          <p:nvPr/>
        </p:nvSpPr>
        <p:spPr>
          <a:xfrm>
            <a:off x="3884113" y="4472965"/>
            <a:ext cx="4048" cy="3120482"/>
          </a:xfrm>
          <a:prstGeom prst="rect">
            <a:avLst/>
          </a:prstGeom>
          <a:solidFill>
            <a:srgbClr val="C9C2B3"/>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63443" y="197070"/>
            <a:ext cx="2936156"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3" name="Text 1"/>
          <p:cNvSpPr/>
          <p:nvPr/>
        </p:nvSpPr>
        <p:spPr>
          <a:xfrm>
            <a:off x="5061358" y="197070"/>
            <a:ext cx="2711042"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4" name="Shape 2"/>
          <p:cNvSpPr/>
          <p:nvPr/>
        </p:nvSpPr>
        <p:spPr>
          <a:xfrm>
            <a:off x="0" y="549784"/>
            <a:ext cx="7772337" cy="9487"/>
          </a:xfrm>
          <a:prstGeom prst="rect">
            <a:avLst/>
          </a:prstGeom>
          <a:solidFill>
            <a:srgbClr val="2A2926">
              <a:alpha val="20000"/>
            </a:srgbClr>
          </a:solidFill>
          <a:ln/>
        </p:spPr>
      </p:sp>
      <p:sp>
        <p:nvSpPr>
          <p:cNvPr id="5" name="Text 3"/>
          <p:cNvSpPr/>
          <p:nvPr/>
        </p:nvSpPr>
        <p:spPr>
          <a:xfrm>
            <a:off x="558768" y="1157020"/>
            <a:ext cx="6654801" cy="586656"/>
          </a:xfrm>
          <a:prstGeom prst="rect">
            <a:avLst/>
          </a:prstGeom>
          <a:noFill/>
          <a:ln/>
        </p:spPr>
        <p:txBody>
          <a:bodyPr wrap="none" lIns="0" tIns="0" rIns="0" bIns="0" rtlCol="0" anchor="t"/>
          <a:lstStyle/>
          <a:p>
            <a:pPr algn="l" indent="0" marL="0">
              <a:lnSpc>
                <a:spcPct val="92000"/>
              </a:lnSpc>
              <a:buNone/>
            </a:pPr>
            <a:r>
              <a:rPr lang="en-US" sz="4200" spc="-21" kern="100" dirty="0">
                <a:solidFill>
                  <a:srgbClr val="1E1D1B"/>
                </a:solidFill>
                <a:latin typeface="Jost Medium" pitchFamily="34" charset="0"/>
                <a:ea typeface="Jost Medium" pitchFamily="34" charset="-122"/>
                <a:cs typeface="Jost Medium" pitchFamily="34" charset="-120"/>
              </a:rPr>
              <a:t>7. Exploratory Data Analysis</a:t>
            </a:r>
            <a:endParaRPr lang="en-US" sz="4200" dirty="0"/>
          </a:p>
        </p:txBody>
      </p:sp>
      <p:sp>
        <p:nvSpPr>
          <p:cNvPr id="6" name="Text 4"/>
          <p:cNvSpPr/>
          <p:nvPr/>
        </p:nvSpPr>
        <p:spPr>
          <a:xfrm>
            <a:off x="558768" y="1930016"/>
            <a:ext cx="6654801" cy="419058"/>
          </a:xfrm>
          <a:prstGeom prst="rect">
            <a:avLst/>
          </a:prstGeom>
          <a:noFill/>
          <a:ln/>
        </p:spPr>
        <p:txBody>
          <a:bodyPr wrap="none" lIns="0" tIns="0" rIns="0" bIns="0" rtlCol="0" anchor="t"/>
          <a:lstStyle/>
          <a:p>
            <a:pPr algn="l" indent="0" marL="0">
              <a:lnSpc>
                <a:spcPct val="92000"/>
              </a:lnSpc>
              <a:buNone/>
            </a:pPr>
            <a:r>
              <a:rPr lang="en-US" sz="3000" spc="-15" kern="100" dirty="0">
                <a:solidFill>
                  <a:srgbClr val="1E1D1B"/>
                </a:solidFill>
                <a:latin typeface="Jost Medium" pitchFamily="34" charset="0"/>
                <a:ea typeface="Jost Medium" pitchFamily="34" charset="-122"/>
                <a:cs typeface="Jost Medium" pitchFamily="34" charset="-120"/>
              </a:rPr>
              <a:t>7.1 Failure distribution</a:t>
            </a:r>
            <a:endParaRPr lang="en-US" sz="3000" dirty="0"/>
          </a:p>
        </p:txBody>
      </p:sp>
      <p:sp>
        <p:nvSpPr>
          <p:cNvPr id="7" name="Text 5"/>
          <p:cNvSpPr/>
          <p:nvPr/>
        </p:nvSpPr>
        <p:spPr>
          <a:xfrm>
            <a:off x="558768" y="2517320"/>
            <a:ext cx="4876789" cy="690440"/>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Out of 10,000 machines, 339 failed (3.39%) and 9,661 did not fail (96.61%). The data is highly imbalanced, which matters when evaluating models (see Section 11).</a:t>
            </a:r>
            <a:endParaRPr lang="en-US" sz="1250" dirty="0"/>
          </a:p>
        </p:txBody>
      </p:sp>
      <p:pic>
        <p:nvPicPr>
          <p:cNvPr id="8" name="Image 0" descr="preencoded.png">    </p:cNvPr>
          <p:cNvPicPr>
            <a:picLocks noChangeAspect="1"/>
          </p:cNvPicPr>
          <p:nvPr/>
        </p:nvPicPr>
        <p:blipFill>
          <a:blip r:embed="rId1"/>
          <a:stretch>
            <a:fillRect/>
          </a:stretch>
        </p:blipFill>
        <p:spPr>
          <a:xfrm>
            <a:off x="5587931" y="2517320"/>
            <a:ext cx="1625638" cy="1124044"/>
          </a:xfrm>
          <a:prstGeom prst="rect">
            <a:avLst/>
          </a:prstGeom>
        </p:spPr>
      </p:pic>
      <p:sp>
        <p:nvSpPr>
          <p:cNvPr id="9" name="Text 6"/>
          <p:cNvSpPr/>
          <p:nvPr/>
        </p:nvSpPr>
        <p:spPr>
          <a:xfrm>
            <a:off x="558768" y="3669935"/>
            <a:ext cx="6654801" cy="419058"/>
          </a:xfrm>
          <a:prstGeom prst="rect">
            <a:avLst/>
          </a:prstGeom>
          <a:noFill/>
          <a:ln/>
        </p:spPr>
        <p:txBody>
          <a:bodyPr wrap="none" lIns="0" tIns="0" rIns="0" bIns="0" rtlCol="0" anchor="t"/>
          <a:lstStyle/>
          <a:p>
            <a:pPr algn="l" indent="0" marL="0">
              <a:lnSpc>
                <a:spcPct val="92000"/>
              </a:lnSpc>
              <a:buNone/>
            </a:pPr>
            <a:r>
              <a:rPr lang="en-US" sz="3000" spc="-15" kern="100" dirty="0">
                <a:solidFill>
                  <a:srgbClr val="1E1D1B"/>
                </a:solidFill>
                <a:latin typeface="Jost Medium" pitchFamily="34" charset="0"/>
                <a:ea typeface="Jost Medium" pitchFamily="34" charset="-122"/>
                <a:cs typeface="Jost Medium" pitchFamily="34" charset="-120"/>
              </a:rPr>
              <a:t>7.2 Machine type</a:t>
            </a:r>
            <a:endParaRPr lang="en-US" sz="3000" dirty="0"/>
          </a:p>
        </p:txBody>
      </p:sp>
      <p:sp>
        <p:nvSpPr>
          <p:cNvPr id="10" name="Text 7"/>
          <p:cNvSpPr/>
          <p:nvPr/>
        </p:nvSpPr>
        <p:spPr>
          <a:xfrm>
            <a:off x="558768" y="4257238"/>
            <a:ext cx="4876789" cy="690440"/>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The dataset has 6,000 Low (L), 2,997 Medium (M) and 1,003 High (H) quality machines. Lower-quality machines fail more often, and the failure rate falls steadily as quality improves.</a:t>
            </a:r>
            <a:endParaRPr lang="en-US" sz="1250" dirty="0"/>
          </a:p>
        </p:txBody>
      </p:sp>
      <p:sp>
        <p:nvSpPr>
          <p:cNvPr id="11" name="Text 8"/>
          <p:cNvSpPr/>
          <p:nvPr/>
        </p:nvSpPr>
        <p:spPr>
          <a:xfrm>
            <a:off x="558768" y="5061961"/>
            <a:ext cx="4876789" cy="792010"/>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L (Low): 6,000 machines; 3.92% failure rate</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M (Medium): 2,997 machines; 2.77% failure rate</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H (High): 1,003 machines; 2.09% failure rate</a:t>
            </a:r>
            <a:endParaRPr lang="en-US" sz="1250" dirty="0"/>
          </a:p>
        </p:txBody>
      </p:sp>
      <p:pic>
        <p:nvPicPr>
          <p:cNvPr id="12" name="Image 1" descr="preencoded.png">    </p:cNvPr>
          <p:cNvPicPr>
            <a:picLocks noChangeAspect="1"/>
          </p:cNvPicPr>
          <p:nvPr/>
        </p:nvPicPr>
        <p:blipFill>
          <a:blip r:embed="rId2"/>
          <a:stretch>
            <a:fillRect/>
          </a:stretch>
        </p:blipFill>
        <p:spPr>
          <a:xfrm>
            <a:off x="5587931" y="4470245"/>
            <a:ext cx="1625638" cy="1170655"/>
          </a:xfrm>
          <a:prstGeom prst="rect">
            <a:avLst/>
          </a:prstGeom>
        </p:spPr>
      </p:pic>
      <p:sp>
        <p:nvSpPr>
          <p:cNvPr id="13" name="Text 9"/>
          <p:cNvSpPr/>
          <p:nvPr/>
        </p:nvSpPr>
        <p:spPr>
          <a:xfrm>
            <a:off x="558768" y="5882543"/>
            <a:ext cx="6654801" cy="419058"/>
          </a:xfrm>
          <a:prstGeom prst="rect">
            <a:avLst/>
          </a:prstGeom>
          <a:noFill/>
          <a:ln/>
        </p:spPr>
        <p:txBody>
          <a:bodyPr wrap="none" lIns="0" tIns="0" rIns="0" bIns="0" rtlCol="0" anchor="t"/>
          <a:lstStyle/>
          <a:p>
            <a:pPr algn="l" indent="0" marL="0">
              <a:lnSpc>
                <a:spcPct val="92000"/>
              </a:lnSpc>
              <a:buNone/>
            </a:pPr>
            <a:r>
              <a:rPr lang="en-US" sz="3000" spc="-15" kern="100" dirty="0">
                <a:solidFill>
                  <a:srgbClr val="1E1D1B"/>
                </a:solidFill>
                <a:latin typeface="Jost Medium" pitchFamily="34" charset="0"/>
                <a:ea typeface="Jost Medium" pitchFamily="34" charset="-122"/>
                <a:cs typeface="Jost Medium" pitchFamily="34" charset="-120"/>
              </a:rPr>
              <a:t>7.3 Failure modes</a:t>
            </a:r>
            <a:endParaRPr lang="en-US" sz="3000" dirty="0"/>
          </a:p>
        </p:txBody>
      </p:sp>
      <p:sp>
        <p:nvSpPr>
          <p:cNvPr id="14" name="Text 10"/>
          <p:cNvSpPr/>
          <p:nvPr/>
        </p:nvSpPr>
        <p:spPr>
          <a:xfrm>
            <a:off x="558768" y="6469846"/>
            <a:ext cx="4876789" cy="690440"/>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Failure modes are the different reasons a machine can fail. Each machine has five flags (TWF, HDF, PWF, OSF, RNF), set to 1 when that cause occurred.</a:t>
            </a:r>
            <a:endParaRPr lang="en-US" sz="1250" dirty="0"/>
          </a:p>
        </p:txBody>
      </p:sp>
      <p:sp>
        <p:nvSpPr>
          <p:cNvPr id="15" name="Text 11"/>
          <p:cNvSpPr/>
          <p:nvPr/>
        </p:nvSpPr>
        <p:spPr>
          <a:xfrm>
            <a:off x="558768" y="7274568"/>
            <a:ext cx="4876789" cy="1353874"/>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HDF: Heat Dissipation Failure — 115</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OSF: Overstrain Failure — 98</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PWF: Power Failure — 95</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TWF: Tool Wear Failure — 46</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RNF: Random Failure — 19</a:t>
            </a:r>
            <a:endParaRPr lang="en-US" sz="1250" dirty="0"/>
          </a:p>
        </p:txBody>
      </p:sp>
      <p:sp>
        <p:nvSpPr>
          <p:cNvPr id="16" name="Text 12"/>
          <p:cNvSpPr/>
          <p:nvPr/>
        </p:nvSpPr>
        <p:spPr>
          <a:xfrm>
            <a:off x="558768" y="8742725"/>
            <a:ext cx="4876789" cy="690440"/>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Heat dissipation, overstrain and power failures together account for most breakdowns. The mode counts add up to more than 339 because some machines fail in more than one way.</a:t>
            </a:r>
            <a:endParaRPr lang="en-US" sz="1250" dirty="0"/>
          </a:p>
        </p:txBody>
      </p:sp>
      <p:pic>
        <p:nvPicPr>
          <p:cNvPr id="17" name="Image 2" descr="preencoded.png">    </p:cNvPr>
          <p:cNvPicPr>
            <a:picLocks noChangeAspect="1"/>
          </p:cNvPicPr>
          <p:nvPr/>
        </p:nvPicPr>
        <p:blipFill>
          <a:blip r:embed="rId3"/>
          <a:stretch>
            <a:fillRect/>
          </a:stretch>
        </p:blipFill>
        <p:spPr>
          <a:xfrm>
            <a:off x="5587931" y="7410228"/>
            <a:ext cx="1625638" cy="1082492"/>
          </a:xfrm>
          <a:prstGeom prst="rect">
            <a:avLst/>
          </a:prstGeom>
        </p:spPr>
      </p:pic>
      <p:sp>
        <p:nvSpPr>
          <p:cNvPr id="18" name="Shape 13"/>
          <p:cNvSpPr/>
          <p:nvPr/>
        </p:nvSpPr>
        <p:spPr>
          <a:xfrm>
            <a:off x="0" y="9499066"/>
            <a:ext cx="7772337" cy="9487"/>
          </a:xfrm>
          <a:prstGeom prst="rect">
            <a:avLst/>
          </a:prstGeom>
          <a:solidFill>
            <a:srgbClr val="2A2926">
              <a:alpha val="20000"/>
            </a:srgbClr>
          </a:solidFill>
          <a:ln/>
        </p:spPr>
      </p:sp>
      <p:sp>
        <p:nvSpPr>
          <p:cNvPr id="19" name="Text 14"/>
          <p:cNvSpPr/>
          <p:nvPr/>
        </p:nvSpPr>
        <p:spPr>
          <a:xfrm>
            <a:off x="7525022" y="9695566"/>
            <a:ext cx="247378"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63443" y="197070"/>
            <a:ext cx="2936156"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3" name="Text 1"/>
          <p:cNvSpPr/>
          <p:nvPr/>
        </p:nvSpPr>
        <p:spPr>
          <a:xfrm>
            <a:off x="5061358" y="197070"/>
            <a:ext cx="2711042"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4" name="Shape 2"/>
          <p:cNvSpPr/>
          <p:nvPr/>
        </p:nvSpPr>
        <p:spPr>
          <a:xfrm>
            <a:off x="0" y="549784"/>
            <a:ext cx="7772337" cy="9487"/>
          </a:xfrm>
          <a:prstGeom prst="rect">
            <a:avLst/>
          </a:prstGeom>
          <a:solidFill>
            <a:srgbClr val="2A2926">
              <a:alpha val="20000"/>
            </a:srgbClr>
          </a:solidFill>
          <a:ln/>
        </p:spPr>
      </p:sp>
      <p:sp>
        <p:nvSpPr>
          <p:cNvPr id="5" name="Text 3"/>
          <p:cNvSpPr/>
          <p:nvPr/>
        </p:nvSpPr>
        <p:spPr>
          <a:xfrm>
            <a:off x="558768" y="1157020"/>
            <a:ext cx="6654801" cy="1173311"/>
          </a:xfrm>
          <a:prstGeom prst="rect">
            <a:avLst/>
          </a:prstGeom>
          <a:noFill/>
          <a:ln/>
        </p:spPr>
        <p:txBody>
          <a:bodyPr wrap="square" lIns="0" tIns="0" rIns="0" bIns="0" rtlCol="0" anchor="t">
            <a:normAutofit/>
          </a:bodyPr>
          <a:lstStyle/>
          <a:p>
            <a:pPr algn="l" indent="0" marL="0">
              <a:lnSpc>
                <a:spcPct val="92000"/>
              </a:lnSpc>
              <a:buNone/>
            </a:pPr>
            <a:r>
              <a:rPr lang="en-US" sz="4200" spc="-21" kern="100" dirty="0">
                <a:solidFill>
                  <a:srgbClr val="1E1D1B"/>
                </a:solidFill>
                <a:latin typeface="Jost Medium" pitchFamily="34" charset="0"/>
                <a:ea typeface="Jost Medium" pitchFamily="34" charset="-122"/>
                <a:cs typeface="Jost Medium" pitchFamily="34" charset="-120"/>
              </a:rPr>
              <a:t>7.4 Operating Variables and Correlations</a:t>
            </a:r>
            <a:endParaRPr lang="en-US" sz="4200" dirty="0"/>
          </a:p>
        </p:txBody>
      </p:sp>
      <p:sp>
        <p:nvSpPr>
          <p:cNvPr id="6" name="Text 4"/>
          <p:cNvSpPr/>
          <p:nvPr/>
        </p:nvSpPr>
        <p:spPr>
          <a:xfrm>
            <a:off x="558768" y="2488101"/>
            <a:ext cx="6654801" cy="690440"/>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The report examines distributions of machine operating variables, box plots comparing failed and non-failed machines, and a correlation heatmap showing how strongly variables move together from -1 to +1.</a:t>
            </a:r>
            <a:endParaRPr lang="en-US" sz="1250" dirty="0"/>
          </a:p>
        </p:txBody>
      </p:sp>
      <p:pic>
        <p:nvPicPr>
          <p:cNvPr id="7" name="Image 0" descr="preencoded.png">    </p:cNvPr>
          <p:cNvPicPr>
            <a:picLocks noChangeAspect="1"/>
          </p:cNvPicPr>
          <p:nvPr/>
        </p:nvPicPr>
        <p:blipFill>
          <a:blip r:embed="rId1"/>
          <a:stretch>
            <a:fillRect/>
          </a:stretch>
        </p:blipFill>
        <p:spPr>
          <a:xfrm>
            <a:off x="558768" y="3356257"/>
            <a:ext cx="3174995" cy="2299569"/>
          </a:xfrm>
          <a:prstGeom prst="rect">
            <a:avLst/>
          </a:prstGeom>
        </p:spPr>
      </p:pic>
      <p:pic>
        <p:nvPicPr>
          <p:cNvPr id="8" name="Image 1" descr="preencoded.png">    </p:cNvPr>
          <p:cNvPicPr>
            <a:picLocks noChangeAspect="1"/>
          </p:cNvPicPr>
          <p:nvPr/>
        </p:nvPicPr>
        <p:blipFill>
          <a:blip r:embed="rId2"/>
          <a:stretch>
            <a:fillRect/>
          </a:stretch>
        </p:blipFill>
        <p:spPr>
          <a:xfrm>
            <a:off x="4038511" y="3356257"/>
            <a:ext cx="3175058" cy="1682050"/>
          </a:xfrm>
          <a:prstGeom prst="rect">
            <a:avLst/>
          </a:prstGeom>
        </p:spPr>
      </p:pic>
      <p:pic>
        <p:nvPicPr>
          <p:cNvPr id="9" name="Image 2" descr="preencoded.png">    </p:cNvPr>
          <p:cNvPicPr>
            <a:picLocks noChangeAspect="1"/>
          </p:cNvPicPr>
          <p:nvPr/>
        </p:nvPicPr>
        <p:blipFill>
          <a:blip r:embed="rId3"/>
          <a:stretch>
            <a:fillRect/>
          </a:stretch>
        </p:blipFill>
        <p:spPr>
          <a:xfrm>
            <a:off x="558768" y="5833543"/>
            <a:ext cx="4289368" cy="3428483"/>
          </a:xfrm>
          <a:prstGeom prst="rect">
            <a:avLst/>
          </a:prstGeom>
        </p:spPr>
      </p:pic>
      <p:sp>
        <p:nvSpPr>
          <p:cNvPr id="10" name="Shape 5"/>
          <p:cNvSpPr/>
          <p:nvPr/>
        </p:nvSpPr>
        <p:spPr>
          <a:xfrm>
            <a:off x="0" y="9499066"/>
            <a:ext cx="7772337" cy="9487"/>
          </a:xfrm>
          <a:prstGeom prst="rect">
            <a:avLst/>
          </a:prstGeom>
          <a:solidFill>
            <a:srgbClr val="2A2926">
              <a:alpha val="20000"/>
            </a:srgbClr>
          </a:solidFill>
          <a:ln/>
        </p:spPr>
      </p:sp>
      <p:sp>
        <p:nvSpPr>
          <p:cNvPr id="11" name="Text 6"/>
          <p:cNvSpPr/>
          <p:nvPr/>
        </p:nvSpPr>
        <p:spPr>
          <a:xfrm>
            <a:off x="7531663" y="9695566"/>
            <a:ext cx="240737"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63443" y="197070"/>
            <a:ext cx="2936156"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3" name="Text 1"/>
          <p:cNvSpPr/>
          <p:nvPr/>
        </p:nvSpPr>
        <p:spPr>
          <a:xfrm>
            <a:off x="5061358" y="197070"/>
            <a:ext cx="2711042"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4" name="Shape 2"/>
          <p:cNvSpPr/>
          <p:nvPr/>
        </p:nvSpPr>
        <p:spPr>
          <a:xfrm>
            <a:off x="0" y="549784"/>
            <a:ext cx="7772337" cy="9487"/>
          </a:xfrm>
          <a:prstGeom prst="rect">
            <a:avLst/>
          </a:prstGeom>
          <a:solidFill>
            <a:srgbClr val="2A2926">
              <a:alpha val="20000"/>
            </a:srgbClr>
          </a:solidFill>
          <a:ln/>
        </p:spPr>
      </p:sp>
      <p:sp>
        <p:nvSpPr>
          <p:cNvPr id="5" name="Text 3"/>
          <p:cNvSpPr/>
          <p:nvPr/>
        </p:nvSpPr>
        <p:spPr>
          <a:xfrm>
            <a:off x="558768" y="1157020"/>
            <a:ext cx="6654801" cy="586656"/>
          </a:xfrm>
          <a:prstGeom prst="rect">
            <a:avLst/>
          </a:prstGeom>
          <a:noFill/>
          <a:ln/>
        </p:spPr>
        <p:txBody>
          <a:bodyPr wrap="none" lIns="0" tIns="0" rIns="0" bIns="0" rtlCol="0" anchor="t"/>
          <a:lstStyle/>
          <a:p>
            <a:pPr algn="l" indent="0" marL="0">
              <a:lnSpc>
                <a:spcPct val="92000"/>
              </a:lnSpc>
              <a:buNone/>
            </a:pPr>
            <a:r>
              <a:rPr lang="en-US" sz="4200" spc="-21" kern="100" dirty="0">
                <a:solidFill>
                  <a:srgbClr val="1E1D1B"/>
                </a:solidFill>
                <a:latin typeface="Jost Medium" pitchFamily="34" charset="0"/>
                <a:ea typeface="Jost Medium" pitchFamily="34" charset="-122"/>
                <a:cs typeface="Jost Medium" pitchFamily="34" charset="-120"/>
              </a:rPr>
              <a:t>8. Feature Engineering</a:t>
            </a:r>
            <a:endParaRPr lang="en-US" sz="4200" dirty="0"/>
          </a:p>
        </p:txBody>
      </p:sp>
      <p:sp>
        <p:nvSpPr>
          <p:cNvPr id="6" name="Text 4"/>
          <p:cNvSpPr/>
          <p:nvPr/>
        </p:nvSpPr>
        <p:spPr>
          <a:xfrm>
            <a:off x="558768" y="1901445"/>
            <a:ext cx="3098776" cy="1891958"/>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Temperature Difference [K]:</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Process temperature minus Air temperature. It shows how much heat the process adds above the surroundings.</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Power Proxy:</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Rotational speed multiplied by Torque. It is a relative measure of mechanical load, not actual electrical power in watts.</a:t>
            </a:r>
            <a:endParaRPr lang="en-US" sz="1250" dirty="0"/>
          </a:p>
        </p:txBody>
      </p:sp>
      <p:sp>
        <p:nvSpPr>
          <p:cNvPr id="7" name="Text 5"/>
          <p:cNvSpPr/>
          <p:nvPr/>
        </p:nvSpPr>
        <p:spPr>
          <a:xfrm>
            <a:off x="4114729" y="1901445"/>
            <a:ext cx="3098840" cy="920586"/>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Tool Wear Category:</a:t>
            </a:r>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 Low (0 to 100 min), Medium (101 to 200 min) and High (above 200 min), with 4,667, 4,571 and 762 machines.</a:t>
            </a:r>
            <a:endParaRPr lang="en-US" sz="1250" dirty="0"/>
          </a:p>
        </p:txBody>
      </p:sp>
      <p:sp>
        <p:nvSpPr>
          <p:cNvPr id="8" name="Text 6"/>
          <p:cNvSpPr/>
          <p:nvPr/>
        </p:nvSpPr>
        <p:spPr>
          <a:xfrm>
            <a:off x="4114729" y="2936314"/>
            <a:ext cx="3098840" cy="690440"/>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Temperature Difference and Power Proxy were also created in SQL so that Power BI could use them.</a:t>
            </a:r>
            <a:endParaRPr lang="en-US" sz="1250" dirty="0"/>
          </a:p>
        </p:txBody>
      </p:sp>
      <p:sp>
        <p:nvSpPr>
          <p:cNvPr id="9" name="Shape 7"/>
          <p:cNvSpPr/>
          <p:nvPr/>
        </p:nvSpPr>
        <p:spPr>
          <a:xfrm>
            <a:off x="0" y="9499066"/>
            <a:ext cx="7772337" cy="9487"/>
          </a:xfrm>
          <a:prstGeom prst="rect">
            <a:avLst/>
          </a:prstGeom>
          <a:solidFill>
            <a:srgbClr val="2A2926">
              <a:alpha val="20000"/>
            </a:srgbClr>
          </a:solidFill>
          <a:ln/>
        </p:spPr>
      </p:sp>
      <p:sp>
        <p:nvSpPr>
          <p:cNvPr id="10" name="Text 8"/>
          <p:cNvSpPr/>
          <p:nvPr/>
        </p:nvSpPr>
        <p:spPr>
          <a:xfrm>
            <a:off x="7529006" y="9695566"/>
            <a:ext cx="243394"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8</a:t>
            </a:r>
            <a:endParaRPr lang="en-US" sz="900" dirty="0"/>
          </a:p>
        </p:txBody>
      </p:sp>
      <p:sp>
        <p:nvSpPr>
          <p:cNvPr id="11" name="Shape 9"/>
          <p:cNvSpPr/>
          <p:nvPr/>
        </p:nvSpPr>
        <p:spPr>
          <a:xfrm>
            <a:off x="3884113" y="1901445"/>
            <a:ext cx="4048" cy="1891958"/>
          </a:xfrm>
          <a:prstGeom prst="rect">
            <a:avLst/>
          </a:prstGeom>
          <a:solidFill>
            <a:srgbClr val="C9C2B3"/>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63443" y="197070"/>
            <a:ext cx="2936156"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3" name="Text 1"/>
          <p:cNvSpPr/>
          <p:nvPr/>
        </p:nvSpPr>
        <p:spPr>
          <a:xfrm>
            <a:off x="5061358" y="197070"/>
            <a:ext cx="2711042"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PREDICTIVE MAINTENANCE ANALYTICS</a:t>
            </a:r>
            <a:endParaRPr lang="en-US" sz="900" dirty="0"/>
          </a:p>
        </p:txBody>
      </p:sp>
      <p:sp>
        <p:nvSpPr>
          <p:cNvPr id="4" name="Shape 2"/>
          <p:cNvSpPr/>
          <p:nvPr/>
        </p:nvSpPr>
        <p:spPr>
          <a:xfrm>
            <a:off x="0" y="549784"/>
            <a:ext cx="7772337" cy="9487"/>
          </a:xfrm>
          <a:prstGeom prst="rect">
            <a:avLst/>
          </a:prstGeom>
          <a:solidFill>
            <a:srgbClr val="2A2926">
              <a:alpha val="20000"/>
            </a:srgbClr>
          </a:solidFill>
          <a:ln/>
        </p:spPr>
      </p:sp>
      <p:sp>
        <p:nvSpPr>
          <p:cNvPr id="5" name="Text 3"/>
          <p:cNvSpPr/>
          <p:nvPr/>
        </p:nvSpPr>
        <p:spPr>
          <a:xfrm>
            <a:off x="558768" y="1157734"/>
            <a:ext cx="6654801" cy="583810"/>
          </a:xfrm>
          <a:prstGeom prst="rect">
            <a:avLst/>
          </a:prstGeom>
          <a:noFill/>
          <a:ln/>
        </p:spPr>
        <p:txBody>
          <a:bodyPr wrap="none" lIns="0" tIns="0" rIns="0" bIns="0" rtlCol="0" anchor="t"/>
          <a:lstStyle/>
          <a:p>
            <a:pPr algn="l" indent="0" marL="0">
              <a:lnSpc>
                <a:spcPct val="92000"/>
              </a:lnSpc>
              <a:buNone/>
            </a:pPr>
            <a:r>
              <a:rPr lang="en-US" sz="4200" spc="-21" kern="100" dirty="0">
                <a:solidFill>
                  <a:srgbClr val="1E1D1B"/>
                </a:solidFill>
                <a:latin typeface="Jost Medium" pitchFamily="34" charset="0"/>
                <a:ea typeface="Jost Medium" pitchFamily="34" charset="-122"/>
                <a:cs typeface="Jost Medium" pitchFamily="34" charset="-120"/>
              </a:rPr>
              <a:t>9. SQL Server Analysis</a:t>
            </a:r>
            <a:endParaRPr lang="en-US" sz="4200" dirty="0"/>
          </a:p>
        </p:txBody>
      </p:sp>
      <p:sp>
        <p:nvSpPr>
          <p:cNvPr id="6" name="Text 4"/>
          <p:cNvSpPr/>
          <p:nvPr/>
        </p:nvSpPr>
        <p:spPr>
          <a:xfrm>
            <a:off x="558768" y="1896661"/>
            <a:ext cx="6654801" cy="457005"/>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The data was loaded into PredictiveMaintenanceDB as the table dbo.ai4i2020. Two views were then created.</a:t>
            </a:r>
            <a:endParaRPr lang="en-US" sz="1250" dirty="0"/>
          </a:p>
        </p:txBody>
      </p:sp>
      <p:sp>
        <p:nvSpPr>
          <p:cNvPr id="7" name="Text 5"/>
          <p:cNvSpPr/>
          <p:nvPr/>
        </p:nvSpPr>
        <p:spPr>
          <a:xfrm>
            <a:off x="558768" y="2529652"/>
            <a:ext cx="3098776" cy="2792306"/>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vw_MachineAnalysis:</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adds Temperature_Difference_K, Power_Proxy and a Failure_Status label (Failure or No Failure).</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vw_PowerBI_MachineAnalysis:</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the final view for Power BI. It adds Tool_Wear_Band (0-50, 51-100, 101-150, 151-200, 201+), Power_Band (Low below 50,000; Medium below 100,000; High above) and Failure_Type (the first matching failure mode, or No Failure).</a:t>
            </a:r>
            <a:endParaRPr lang="en-US" sz="1250" dirty="0"/>
          </a:p>
        </p:txBody>
      </p:sp>
      <p:sp>
        <p:nvSpPr>
          <p:cNvPr id="8" name="Text 6"/>
          <p:cNvSpPr/>
          <p:nvPr/>
        </p:nvSpPr>
        <p:spPr>
          <a:xfrm>
            <a:off x="4114729" y="2558733"/>
            <a:ext cx="3098840" cy="833942"/>
          </a:xfrm>
          <a:prstGeom prst="rect">
            <a:avLst/>
          </a:prstGeom>
          <a:noFill/>
          <a:ln/>
        </p:spPr>
        <p:txBody>
          <a:bodyPr wrap="square" lIns="0" tIns="0" rIns="0" bIns="0" rtlCol="0" anchor="t">
            <a:normAutofit/>
          </a:bodyPr>
          <a:lstStyle/>
          <a:p>
            <a:pPr algn="l" indent="0" marL="0">
              <a:lnSpc>
                <a:spcPct val="92000"/>
              </a:lnSpc>
              <a:buNone/>
            </a:pPr>
            <a:r>
              <a:rPr lang="en-US" sz="3000" spc="-15" kern="100" dirty="0">
                <a:solidFill>
                  <a:srgbClr val="1E1D1B"/>
                </a:solidFill>
                <a:latin typeface="Jost Medium" pitchFamily="34" charset="0"/>
                <a:ea typeface="Jost Medium" pitchFamily="34" charset="-122"/>
                <a:cs typeface="Jost Medium" pitchFamily="34" charset="-120"/>
              </a:rPr>
              <a:t>Business questions answered</a:t>
            </a:r>
            <a:endParaRPr lang="en-US" sz="3000" dirty="0"/>
          </a:p>
        </p:txBody>
      </p:sp>
      <p:sp>
        <p:nvSpPr>
          <p:cNvPr id="9" name="Text 7"/>
          <p:cNvSpPr/>
          <p:nvPr/>
        </p:nvSpPr>
        <p:spPr>
          <a:xfrm>
            <a:off x="4114729" y="3558450"/>
            <a:ext cx="3098840" cy="2687257"/>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Checking the imported data</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Creating the analysis views</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Overall failure KPIs</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Failure by machine type</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Failure type analysis</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Tool wear analysis</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Rotational speed, torque and temperature</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Power proxy analysis</a:t>
            </a:r>
            <a:endParaRPr lang="en-US" sz="1250" dirty="0"/>
          </a:p>
          <a:p>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Final view for Power BI</a:t>
            </a:r>
            <a:endParaRPr lang="en-US" sz="1250" dirty="0"/>
          </a:p>
        </p:txBody>
      </p:sp>
      <p:pic>
        <p:nvPicPr>
          <p:cNvPr id="10" name="Image 0" descr="preencoded.png">    </p:cNvPr>
          <p:cNvPicPr>
            <a:picLocks noChangeAspect="1"/>
          </p:cNvPicPr>
          <p:nvPr/>
        </p:nvPicPr>
        <p:blipFill>
          <a:blip r:embed="rId1"/>
          <a:stretch>
            <a:fillRect/>
          </a:stretch>
        </p:blipFill>
        <p:spPr>
          <a:xfrm>
            <a:off x="558768" y="6421717"/>
            <a:ext cx="1886363" cy="952272"/>
          </a:xfrm>
          <a:prstGeom prst="rect">
            <a:avLst/>
          </a:prstGeom>
        </p:spPr>
      </p:pic>
      <p:pic>
        <p:nvPicPr>
          <p:cNvPr id="11" name="Image 1" descr="preencoded.png">    </p:cNvPr>
          <p:cNvPicPr>
            <a:picLocks noChangeAspect="1"/>
          </p:cNvPicPr>
          <p:nvPr/>
        </p:nvPicPr>
        <p:blipFill>
          <a:blip r:embed="rId2"/>
          <a:stretch>
            <a:fillRect/>
          </a:stretch>
        </p:blipFill>
        <p:spPr>
          <a:xfrm>
            <a:off x="558768" y="7526345"/>
            <a:ext cx="4449965" cy="952272"/>
          </a:xfrm>
          <a:prstGeom prst="rect">
            <a:avLst/>
          </a:prstGeom>
        </p:spPr>
      </p:pic>
      <p:pic>
        <p:nvPicPr>
          <p:cNvPr id="12" name="Image 2" descr="preencoded.png">    </p:cNvPr>
          <p:cNvPicPr>
            <a:picLocks noChangeAspect="1"/>
          </p:cNvPicPr>
          <p:nvPr/>
        </p:nvPicPr>
        <p:blipFill>
          <a:blip r:embed="rId3"/>
          <a:stretch>
            <a:fillRect/>
          </a:stretch>
        </p:blipFill>
        <p:spPr>
          <a:xfrm>
            <a:off x="558768" y="8630972"/>
            <a:ext cx="4986341" cy="952272"/>
          </a:xfrm>
          <a:prstGeom prst="rect">
            <a:avLst/>
          </a:prstGeom>
        </p:spPr>
      </p:pic>
      <p:sp>
        <p:nvSpPr>
          <p:cNvPr id="13" name="Shape 8"/>
          <p:cNvSpPr/>
          <p:nvPr/>
        </p:nvSpPr>
        <p:spPr>
          <a:xfrm>
            <a:off x="0" y="9499066"/>
            <a:ext cx="7772337" cy="9487"/>
          </a:xfrm>
          <a:prstGeom prst="rect">
            <a:avLst/>
          </a:prstGeom>
          <a:solidFill>
            <a:srgbClr val="2A2926">
              <a:alpha val="20000"/>
            </a:srgbClr>
          </a:solidFill>
          <a:ln/>
        </p:spPr>
      </p:sp>
      <p:sp>
        <p:nvSpPr>
          <p:cNvPr id="14" name="Text 9"/>
          <p:cNvSpPr/>
          <p:nvPr/>
        </p:nvSpPr>
        <p:spPr>
          <a:xfrm>
            <a:off x="7525022" y="9695566"/>
            <a:ext cx="247378" cy="165701"/>
          </a:xfrm>
          <a:prstGeom prst="rect">
            <a:avLst/>
          </a:prstGeom>
          <a:noFill/>
          <a:ln/>
        </p:spPr>
        <p:txBody>
          <a:bodyPr wrap="none" lIns="0" tIns="0" rIns="0" bIns="0" rtlCol="0" anchor="ctr"/>
          <a:lstStyle/>
          <a:p>
            <a:pPr algn="l" indent="0" marL="0">
              <a:lnSpc>
                <a:spcPct val="121000"/>
              </a:lnSpc>
              <a:buNone/>
            </a:pPr>
            <a:r>
              <a:rPr lang="en-US" sz="900" spc="108" kern="100" dirty="0">
                <a:solidFill>
                  <a:srgbClr val="2A2926"/>
                </a:solidFill>
                <a:latin typeface="Jost Medium" pitchFamily="34" charset="0"/>
                <a:ea typeface="Jost Medium" pitchFamily="34" charset="-122"/>
                <a:cs typeface="Jost Medium" pitchFamily="34" charset="-120"/>
              </a:rPr>
              <a:t>9</a:t>
            </a:r>
            <a:endParaRPr lang="en-US" sz="900" dirty="0"/>
          </a:p>
        </p:txBody>
      </p:sp>
      <p:sp>
        <p:nvSpPr>
          <p:cNvPr id="15" name="Shape 10"/>
          <p:cNvSpPr/>
          <p:nvPr/>
        </p:nvSpPr>
        <p:spPr>
          <a:xfrm>
            <a:off x="3884113" y="2529652"/>
            <a:ext cx="4048" cy="3716055"/>
          </a:xfrm>
          <a:prstGeom prst="rect">
            <a:avLst/>
          </a:prstGeom>
          <a:solidFill>
            <a:srgbClr val="C9C2B3"/>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58768" y="598319"/>
            <a:ext cx="6654801" cy="586656"/>
          </a:xfrm>
          <a:prstGeom prst="rect">
            <a:avLst/>
          </a:prstGeom>
          <a:noFill/>
          <a:ln/>
        </p:spPr>
        <p:txBody>
          <a:bodyPr wrap="none" lIns="0" tIns="0" rIns="0" bIns="0" rtlCol="0" anchor="t"/>
          <a:lstStyle/>
          <a:p>
            <a:pPr algn="l" indent="0" marL="0">
              <a:lnSpc>
                <a:spcPct val="92000"/>
              </a:lnSpc>
              <a:buNone/>
            </a:pPr>
            <a:r>
              <a:rPr lang="en-US" sz="4200" spc="-21" kern="100" dirty="0">
                <a:solidFill>
                  <a:srgbClr val="1E1D1B"/>
                </a:solidFill>
                <a:latin typeface="Jost Medium" pitchFamily="34" charset="0"/>
                <a:ea typeface="Jost Medium" pitchFamily="34" charset="-122"/>
                <a:cs typeface="Jost Medium" pitchFamily="34" charset="-120"/>
              </a:rPr>
              <a:t>10. Power BI Dashboard</a:t>
            </a:r>
            <a:endParaRPr lang="en-US" sz="4200" dirty="0"/>
          </a:p>
        </p:txBody>
      </p:sp>
      <p:sp>
        <p:nvSpPr>
          <p:cNvPr id="3" name="Text 1"/>
          <p:cNvSpPr/>
          <p:nvPr/>
        </p:nvSpPr>
        <p:spPr>
          <a:xfrm>
            <a:off x="558768" y="1342743"/>
            <a:ext cx="6654801" cy="460293"/>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Power BI was connected to SQL Server and loaded vw_PowerBI_MachineAnalysis. The dashboard, titled Predictive Maintenance Dashboard, has these parts:</a:t>
            </a:r>
            <a:endParaRPr lang="en-US" sz="1250" dirty="0"/>
          </a:p>
        </p:txBody>
      </p:sp>
      <p:sp>
        <p:nvSpPr>
          <p:cNvPr id="4" name="Text 2"/>
          <p:cNvSpPr/>
          <p:nvPr/>
        </p:nvSpPr>
        <p:spPr>
          <a:xfrm>
            <a:off x="558768" y="1980753"/>
            <a:ext cx="3098776" cy="2453822"/>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KPI cards:</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Total Machines, Total Failures, Failure Rate and Average Tool Wear</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Donut chart:</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Share of Failure vs No Failure</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Column chart: Failure by Machine Type:</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Which machine types fail most</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Column chart: Failures by Tool Wear Band:</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How failures change as tools wear</a:t>
            </a:r>
            <a:endParaRPr lang="en-US" sz="1250" dirty="0"/>
          </a:p>
        </p:txBody>
      </p:sp>
      <p:sp>
        <p:nvSpPr>
          <p:cNvPr id="5" name="Text 3"/>
          <p:cNvSpPr/>
          <p:nvPr/>
        </p:nvSpPr>
        <p:spPr>
          <a:xfrm>
            <a:off x="4114729" y="1980753"/>
            <a:ext cx="3098840" cy="2172890"/>
          </a:xfrm>
          <a:prstGeom prst="rect">
            <a:avLst/>
          </a:prstGeom>
          <a:noFill/>
          <a:ln/>
        </p:spPr>
        <p:txBody>
          <a:bodyPr wrap="square" lIns="0" tIns="0" rIns="0" bIns="0" rtlCol="0" anchor="t">
            <a:normAutofit/>
          </a:bodyPr>
          <a:lstStyle/>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Bar chart: Failure Type Analysis:</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Which failure modes are most common</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Scatter chart: Torque vs Rotational Speed:</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Operating conditions of failed and non-failed machines</a:t>
            </a:r>
            <a:endParaRPr lang="en-US" sz="1250" dirty="0"/>
          </a:p>
          <a:p>
            <a:pPr algn="l" marL="254000" indent="-254000">
              <a:lnSpc>
                <a:spcPct val="121000"/>
              </a:lnSpc>
              <a:buSzPct val="100000"/>
              <a:buChar char="•"/>
            </a:pPr>
            <a:r>
              <a:rPr lang="en-US" sz="1250" b="1" dirty="0">
                <a:solidFill>
                  <a:srgbClr val="2A2926"/>
                </a:solidFill>
                <a:latin typeface="Kumbh Sans Bold" pitchFamily="34" charset="0"/>
                <a:ea typeface="Kumbh Sans Bold" pitchFamily="34" charset="-122"/>
                <a:cs typeface="Kumbh Sans Bold" pitchFamily="34" charset="-120"/>
              </a:rPr>
              <a:t>Scatter chart: Temperature Analysis:</a:t>
            </a:r>
            <a:pPr algn="l" marL="254000" indent="-254000">
              <a:lnSpc>
                <a:spcPct val="121000"/>
              </a:lnSpc>
              <a:buSzPct val="100000"/>
              <a:buChar char="•"/>
            </a:pPr>
            <a:r>
              <a:rPr lang="en-US" sz="1250" dirty="0">
                <a:solidFill>
                  <a:srgbClr val="2A2926"/>
                </a:solidFill>
                <a:latin typeface="Kumbh Sans" pitchFamily="34" charset="0"/>
                <a:ea typeface="Kumbh Sans" pitchFamily="34" charset="-122"/>
                <a:cs typeface="Kumbh Sans" pitchFamily="34" charset="-120"/>
              </a:rPr>
              <a:t> Air and process temperature, coloured by failure status</a:t>
            </a:r>
            <a:endParaRPr lang="en-US" sz="1250" dirty="0"/>
          </a:p>
        </p:txBody>
      </p:sp>
      <p:sp>
        <p:nvSpPr>
          <p:cNvPr id="6" name="Text 4"/>
          <p:cNvSpPr/>
          <p:nvPr/>
        </p:nvSpPr>
        <p:spPr>
          <a:xfrm>
            <a:off x="558768" y="4612292"/>
            <a:ext cx="6654801" cy="460293"/>
          </a:xfrm>
          <a:prstGeom prst="rect">
            <a:avLst/>
          </a:prstGeom>
          <a:noFill/>
          <a:ln/>
        </p:spPr>
        <p:txBody>
          <a:bodyPr wrap="square" lIns="0" tIns="0" rIns="0" bIns="0" rtlCol="0" anchor="t">
            <a:normAutofit/>
          </a:bodyPr>
          <a:lstStyle/>
          <a:p>
            <a:pPr algn="l" indent="0" marL="0">
              <a:lnSpc>
                <a:spcPct val="121000"/>
              </a:lnSpc>
              <a:buNone/>
            </a:pPr>
            <a:r>
              <a:rPr lang="en-US" sz="1250" dirty="0">
                <a:solidFill>
                  <a:srgbClr val="2A2926"/>
                </a:solidFill>
                <a:latin typeface="Kumbh Sans" pitchFamily="34" charset="0"/>
                <a:ea typeface="Kumbh Sans" pitchFamily="34" charset="-122"/>
                <a:cs typeface="Kumbh Sans" pitchFamily="34" charset="-120"/>
              </a:rPr>
              <a:t>The dashboard lets a maintenance manager see overall machine health at a glance and then look at the conditions behind failures.</a:t>
            </a:r>
            <a:endParaRPr lang="en-US" sz="1250" dirty="0"/>
          </a:p>
        </p:txBody>
      </p:sp>
      <p:pic>
        <p:nvPicPr>
          <p:cNvPr id="7" name="Image 0" descr="preencoded.png">    </p:cNvPr>
          <p:cNvPicPr>
            <a:picLocks noChangeAspect="1"/>
          </p:cNvPicPr>
          <p:nvPr/>
        </p:nvPicPr>
        <p:blipFill>
          <a:blip r:embed="rId1"/>
          <a:stretch>
            <a:fillRect/>
          </a:stretch>
        </p:blipFill>
        <p:spPr>
          <a:xfrm>
            <a:off x="558768" y="5250303"/>
            <a:ext cx="5968960" cy="3310089"/>
          </a:xfrm>
          <a:prstGeom prst="rect">
            <a:avLst/>
          </a:prstGeom>
        </p:spPr>
      </p:pic>
      <p:sp>
        <p:nvSpPr>
          <p:cNvPr id="8" name="Shape 5"/>
          <p:cNvSpPr/>
          <p:nvPr/>
        </p:nvSpPr>
        <p:spPr>
          <a:xfrm>
            <a:off x="3884113" y="1980753"/>
            <a:ext cx="4048" cy="2453822"/>
          </a:xfrm>
          <a:prstGeom prst="rect">
            <a:avLst/>
          </a:prstGeom>
          <a:solidFill>
            <a:srgbClr val="C9C2B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2026-10-14T13:19:05Z</dcterms:created>
  <dcterms:modified xsi:type="dcterms:W3CDTF">2026-10-14T13:19:05Z</dcterms:modified>
</cp:coreProperties>
</file>